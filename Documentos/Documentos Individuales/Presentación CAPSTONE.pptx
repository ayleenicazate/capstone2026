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1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21" roundtripDataSignature="AMtx7mj0Bp+il0mraPMQGghVVZNVx8yg8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AA7A352C-8DEE-4CEB-8D94-93BEE813DD62}">
  <a:tblStyle styleId="{AA7A352C-8DEE-4CEB-8D94-93BEE813DD62}" styleName="Table_0"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TxStyle b="off" i="off"/>
      <a:tcStyle>
        <a:tcBdr/>
      </a:tcStyle>
    </a:band1H>
    <a:band2H>
      <a:tcTxStyle b="off" i="off"/>
      <a:tcStyle>
        <a:tcBdr/>
      </a:tcStyle>
    </a:band2H>
    <a:band1V>
      <a:tcTxStyle b="off" i="off"/>
      <a:tcStyle>
        <a:tcBdr/>
      </a:tcStyle>
    </a:band1V>
    <a:band2V>
      <a:tcTxStyle b="off" i="off"/>
      <a:tcStyle>
        <a:tcBdr/>
      </a:tcStyle>
    </a:band2V>
    <a:lastCol>
      <a:tcTxStyle b="off" i="off"/>
      <a:tcStyle>
        <a:tcBdr/>
      </a:tcStyle>
    </a:lastCol>
    <a:firstCol>
      <a:tcTxStyle b="off" i="off"/>
      <a:tcStyle>
        <a:tcBdr/>
      </a:tcStyle>
    </a:firstCol>
    <a:lastRow>
      <a:tcTxStyle b="off" i="off"/>
      <a:tcStyle>
        <a:tcBdr/>
      </a:tcStyle>
    </a:lastRow>
    <a:seCell>
      <a:tcTxStyle b="off" i="off"/>
      <a:tcStyle>
        <a:tcBdr/>
      </a:tcStyle>
    </a:seCell>
    <a:swCell>
      <a:tcTxStyle b="off" i="off"/>
      <a:tcStyle>
        <a:tcBdr/>
      </a:tcStyle>
    </a:swCell>
    <a:firstRow>
      <a:tcTxStyle b="off" i="off"/>
      <a:tcStyle>
        <a:tcBdr/>
      </a:tcStyle>
    </a:firstRow>
    <a:neCell>
      <a:tcTxStyle b="off" i="off"/>
      <a:tcStyle>
        <a:tcBdr/>
      </a:tcStyle>
    </a:neCell>
    <a:nwCell>
      <a:tcTxStyle b="off" i="off"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94658"/>
  </p:normalViewPr>
  <p:slideViewPr>
    <p:cSldViewPr snapToGrid="0">
      <p:cViewPr varScale="1">
        <p:scale>
          <a:sx n="120" d="100"/>
          <a:sy n="120" d="100"/>
        </p:scale>
        <p:origin x="800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21" Type="http://customschemas.google.com/relationships/presentationmetadata" Target="meta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91" name="Google Shape;91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00" name="Google Shape;100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21" name="Google Shape;121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42" name="Google Shape;142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g25f96ad8ad9_0_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63" name="Google Shape;163;g25f96ad8ad9_0_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73" name="Google Shape;173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83" name="Google Shape;183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201" name="Google Shape;201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219" name="Google Shape;219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g2f36e8546a0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dirty="0"/>
          </a:p>
        </p:txBody>
      </p:sp>
      <p:sp>
        <p:nvSpPr>
          <p:cNvPr id="229" name="Google Shape;229;g2f36e8546a0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g2e4329f7a36_0_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238" name="Google Shape;238;g2e4329f7a36_0_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p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247" name="Google Shape;247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p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255" name="Google Shape;255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Google Shape;262;p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263" name="Google Shape;263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apositiva de título" type="title">
  <p:cSld name="TITLE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4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14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14" name="Google Shape;14;p1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" name="Google Shape;15;p1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" name="Google Shape;16;p1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‹Nº›</a:t>
            </a:fld>
            <a:endParaRPr/>
          </a:p>
        </p:txBody>
      </p:sp>
    </p:spTree>
  </p:cSld>
  <p:clrMapOvr>
    <a:masterClrMapping/>
  </p:clrMapOvr>
  <p:transition spd="slow">
    <p:wipe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y objetos" type="obj">
  <p:cSld name="OBJECT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15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15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0" name="Google Shape;20;p1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1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1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‹Nº›</a:t>
            </a:fld>
            <a:endParaRPr/>
          </a:p>
        </p:txBody>
      </p:sp>
    </p:spTree>
  </p:cSld>
  <p:clrMapOvr>
    <a:masterClrMapping/>
  </p:clrMapOvr>
  <p:transition spd="slow">
    <p:wipe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Encabezado de sección" type="secHead">
  <p:cSld name="SECTION_HEADER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16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16"/>
          <p:cNvSpPr txBox="1"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26" name="Google Shape;26;p1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1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1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‹Nº›</a:t>
            </a:fld>
            <a:endParaRPr/>
          </a:p>
        </p:txBody>
      </p:sp>
    </p:spTree>
  </p:cSld>
  <p:clrMapOvr>
    <a:masterClrMapping/>
  </p:clrMapOvr>
  <p:transition spd="slow">
    <p:wipe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os objetos" type="twoObj">
  <p:cSld name="TWO_OBJECTS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17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17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2" name="Google Shape;32;p17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3" name="Google Shape;33;p1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" name="Google Shape;34;p1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1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‹Nº›</a:t>
            </a:fld>
            <a:endParaRPr/>
          </a:p>
        </p:txBody>
      </p:sp>
    </p:spTree>
  </p:cSld>
  <p:clrMapOvr>
    <a:masterClrMapping/>
  </p:clrMapOvr>
  <p:transition spd="slow">
    <p:wipe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ación" type="twoTxTwoObj">
  <p:cSld name="TWO_OBJECTS_WITH_TEXT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18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18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39" name="Google Shape;39;p18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0" name="Google Shape;40;p18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1" name="Google Shape;41;p18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2" name="Google Shape;42;p1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3" name="Google Shape;43;p1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" name="Google Shape;44;p1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‹Nº›</a:t>
            </a:fld>
            <a:endParaRPr/>
          </a:p>
        </p:txBody>
      </p:sp>
    </p:spTree>
  </p:cSld>
  <p:clrMapOvr>
    <a:masterClrMapping/>
  </p:clrMapOvr>
  <p:transition spd="slow">
    <p:wipe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olo el título" type="titleOnly">
  <p:cSld name="TITLE_ONLY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19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1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1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1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‹Nº›</a:t>
            </a:fld>
            <a:endParaRPr/>
          </a:p>
        </p:txBody>
      </p:sp>
    </p:spTree>
  </p:cSld>
  <p:clrMapOvr>
    <a:masterClrMapping/>
  </p:clrMapOvr>
  <p:transition spd="slow">
    <p:wipe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En blanco" type="blank">
  <p:cSld name="BLANK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2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2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2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‹Nº›</a:t>
            </a:fld>
            <a:endParaRPr/>
          </a:p>
        </p:txBody>
      </p:sp>
    </p:spTree>
  </p:cSld>
  <p:clrMapOvr>
    <a:masterClrMapping/>
  </p:clrMapOvr>
  <p:transition spd="slow">
    <p:wipe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ido con título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21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21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21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58" name="Google Shape;58;p2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2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2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‹Nº›</a:t>
            </a:fld>
            <a:endParaRPr/>
          </a:p>
        </p:txBody>
      </p:sp>
    </p:spTree>
  </p:cSld>
  <p:clrMapOvr>
    <a:masterClrMapping/>
  </p:clrMapOvr>
  <p:transition spd="slow">
    <p:wipe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Imagen con título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22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22"/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22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5" name="Google Shape;65;p2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2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2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‹Nº›</a:t>
            </a:fld>
            <a:endParaRPr/>
          </a:p>
        </p:txBody>
      </p:sp>
    </p:spTree>
  </p:cSld>
  <p:clrMapOvr>
    <a:masterClrMapping/>
  </p:clrMapOvr>
  <p:transition spd="slow">
    <p:wipe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y texto vertical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23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23"/>
          <p:cNvSpPr txBox="1">
            <a:spLocks noGrp="1"/>
          </p:cNvSpPr>
          <p:nvPr>
            <p:ph type="body" idx="1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2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2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2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‹Nº›</a:t>
            </a:fld>
            <a:endParaRPr/>
          </a:p>
        </p:txBody>
      </p:sp>
    </p:spTree>
  </p:cSld>
  <p:clrMapOvr>
    <a:masterClrMapping/>
  </p:clrMapOvr>
  <p:transition spd="slow">
    <p:wipe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vertical y texto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24"/>
          <p:cNvSpPr txBox="1">
            <a:spLocks noGrp="1"/>
          </p:cNvSpPr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24"/>
          <p:cNvSpPr txBox="1">
            <a:spLocks noGrp="1"/>
          </p:cNvSpPr>
          <p:nvPr>
            <p:ph type="body" idx="1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2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2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2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‹Nº›</a:t>
            </a:fld>
            <a:endParaRPr/>
          </a:p>
        </p:txBody>
      </p:sp>
    </p:spTree>
  </p:cSld>
  <p:clrMapOvr>
    <a:masterClrMapping/>
  </p:clrMapOvr>
  <p:transition spd="slow">
    <p:wipe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3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" name="Google Shape;7;p13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1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1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1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‹Nº›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ransition spd="slow">
    <p:wipe/>
  </p:transition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6.png"/><Relationship Id="rId4" Type="http://schemas.openxmlformats.org/officeDocument/2006/relationships/image" Target="../media/image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p1" descr="Gente, Muchachas, Mujeres, Estudiantes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0291763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"/>
          <p:cNvSpPr/>
          <p:nvPr/>
        </p:nvSpPr>
        <p:spPr>
          <a:xfrm>
            <a:off x="0" y="9728"/>
            <a:ext cx="12192000" cy="6899223"/>
          </a:xfrm>
          <a:prstGeom prst="rect">
            <a:avLst/>
          </a:prstGeom>
          <a:gradFill>
            <a:gsLst>
              <a:gs pos="0">
                <a:schemeClr val="lt2"/>
              </a:gs>
              <a:gs pos="31000">
                <a:schemeClr val="lt2"/>
              </a:gs>
              <a:gs pos="100000">
                <a:srgbClr val="E7E6E6">
                  <a:alpha val="32549"/>
                </a:srgbClr>
              </a:gs>
            </a:gsLst>
            <a:lin ang="10800000" scaled="0"/>
          </a:gradFill>
          <a:ln w="12700" cap="flat" cmpd="sng">
            <a:solidFill>
              <a:srgbClr val="1C3052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" name="Google Shape;86;p1"/>
          <p:cNvSpPr txBox="1"/>
          <p:nvPr/>
        </p:nvSpPr>
        <p:spPr>
          <a:xfrm>
            <a:off x="-2" y="3188001"/>
            <a:ext cx="5508171" cy="523220"/>
          </a:xfrm>
          <a:prstGeom prst="rect">
            <a:avLst/>
          </a:prstGeom>
          <a:solidFill>
            <a:schemeClr val="dk1"/>
          </a:solidFill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s-MX" sz="2800" b="1" i="0" u="none" strike="noStrike" cap="none" dirty="0">
                <a:solidFill>
                  <a:srgbClr val="FFFF00"/>
                </a:solidFill>
                <a:latin typeface="Calibri"/>
                <a:ea typeface="Calibri"/>
                <a:cs typeface="Calibri"/>
                <a:sym typeface="Calibri"/>
              </a:rPr>
              <a:t>CAPSTONE 2026-2</a:t>
            </a:r>
            <a:endParaRPr sz="2800" b="1" i="0" u="none" strike="noStrike" cap="none" dirty="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87" name="Google Shape;87;p1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8653687" y="187714"/>
            <a:ext cx="3135088" cy="771525"/>
          </a:xfrm>
          <a:prstGeom prst="rect">
            <a:avLst/>
          </a:prstGeom>
          <a:noFill/>
          <a:ln>
            <a:noFill/>
          </a:ln>
        </p:spPr>
      </p:pic>
      <p:sp>
        <p:nvSpPr>
          <p:cNvPr id="88" name="Google Shape;88;p1"/>
          <p:cNvSpPr txBox="1"/>
          <p:nvPr/>
        </p:nvSpPr>
        <p:spPr>
          <a:xfrm>
            <a:off x="8653675" y="5637025"/>
            <a:ext cx="2841300" cy="70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s-MX" sz="1400" b="0" i="0" u="none" strike="noStrike" cap="none">
                <a:solidFill>
                  <a:srgbClr val="0000FF"/>
                </a:solidFill>
                <a:latin typeface="Calibri"/>
                <a:ea typeface="Calibri"/>
                <a:cs typeface="Calibri"/>
                <a:sym typeface="Calibri"/>
              </a:rPr>
              <a:t>A</a:t>
            </a:r>
            <a:r>
              <a:rPr lang="es-MX" sz="1600" b="0" i="0" u="none" strike="noStrike" cap="none">
                <a:solidFill>
                  <a:srgbClr val="0000FF"/>
                </a:solidFill>
                <a:latin typeface="Calibri"/>
                <a:ea typeface="Calibri"/>
                <a:cs typeface="Calibri"/>
                <a:sym typeface="Calibri"/>
              </a:rPr>
              <a:t>rturo Guerra Castro</a:t>
            </a:r>
            <a:endParaRPr sz="1600" b="0" i="0" u="none" strike="noStrike" cap="none">
              <a:solidFill>
                <a:srgbClr val="0000F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s-MX" sz="1600" b="0" i="0" u="none" strike="noStrike" cap="none">
                <a:solidFill>
                  <a:srgbClr val="0000FF"/>
                </a:solidFill>
                <a:latin typeface="Calibri"/>
                <a:ea typeface="Calibri"/>
                <a:cs typeface="Calibri"/>
                <a:sym typeface="Calibri"/>
              </a:rPr>
              <a:t>ar.guerra@profesor.duoc.cl</a:t>
            </a:r>
            <a:endParaRPr sz="1600" b="0" i="0" u="none" strike="noStrike" cap="none">
              <a:solidFill>
                <a:srgbClr val="0000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ransition spd="slow">
    <p:wip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3" name="Google Shape;93;p2" descr="Free Job Office photo and picture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-1" y="0"/>
            <a:ext cx="1138555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94" name="Google Shape;94;p2"/>
          <p:cNvSpPr/>
          <p:nvPr/>
        </p:nvSpPr>
        <p:spPr>
          <a:xfrm>
            <a:off x="0" y="0"/>
            <a:ext cx="12192000" cy="6899223"/>
          </a:xfrm>
          <a:prstGeom prst="rect">
            <a:avLst/>
          </a:prstGeom>
          <a:gradFill>
            <a:gsLst>
              <a:gs pos="0">
                <a:schemeClr val="lt2"/>
              </a:gs>
              <a:gs pos="31000">
                <a:schemeClr val="lt2"/>
              </a:gs>
              <a:gs pos="100000">
                <a:srgbClr val="E7E6E6">
                  <a:alpha val="32549"/>
                </a:srgbClr>
              </a:gs>
            </a:gsLst>
            <a:lin ang="10800000" scaled="0"/>
          </a:gradFill>
          <a:ln w="12700" cap="flat" cmpd="sng">
            <a:solidFill>
              <a:srgbClr val="1C3052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" name="Google Shape;95;p2"/>
          <p:cNvSpPr txBox="1"/>
          <p:nvPr/>
        </p:nvSpPr>
        <p:spPr>
          <a:xfrm>
            <a:off x="3932587" y="3004209"/>
            <a:ext cx="7856187" cy="1938992"/>
          </a:xfrm>
          <a:prstGeom prst="rect">
            <a:avLst/>
          </a:prstGeom>
          <a:solidFill>
            <a:schemeClr val="dk1"/>
          </a:solidFill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s-MX" sz="2000" b="1" i="0" u="none" strike="noStrike" cap="none">
                <a:solidFill>
                  <a:srgbClr val="FFFF00"/>
                </a:solidFill>
                <a:latin typeface="Calibri"/>
                <a:ea typeface="Calibri"/>
                <a:cs typeface="Calibri"/>
                <a:sym typeface="Calibri"/>
              </a:rPr>
              <a:t>Horas totales: </a:t>
            </a:r>
            <a:r>
              <a:rPr lang="es-MX" sz="20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90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endParaRPr sz="20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s-MX" sz="2000" b="1" i="0" u="none" strike="noStrike" cap="none">
                <a:solidFill>
                  <a:srgbClr val="FFFF00"/>
                </a:solidFill>
                <a:latin typeface="Calibri"/>
                <a:ea typeface="Calibri"/>
                <a:cs typeface="Calibri"/>
                <a:sym typeface="Calibri"/>
              </a:rPr>
              <a:t>Pre requisitos: </a:t>
            </a:r>
            <a:r>
              <a:rPr lang="es-MX" sz="20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Malla completa (Todas las asignaturas del plan de estudio aprobadas (exceptuando la Práctica Profesional)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endParaRPr sz="20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s-MX" sz="2000" b="1" i="0" u="none" strike="noStrike" cap="none">
                <a:solidFill>
                  <a:srgbClr val="FFFF00"/>
                </a:solidFill>
                <a:latin typeface="Calibri"/>
                <a:ea typeface="Calibri"/>
                <a:cs typeface="Calibri"/>
                <a:sym typeface="Calibri"/>
              </a:rPr>
              <a:t>Cantidad de estudiantes por equipos: </a:t>
            </a:r>
            <a:r>
              <a:rPr lang="es-MX" sz="2000" b="1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2 a 3 estudiantes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6" name="Google Shape;96;p2"/>
          <p:cNvSpPr txBox="1"/>
          <p:nvPr/>
        </p:nvSpPr>
        <p:spPr>
          <a:xfrm>
            <a:off x="0" y="1077372"/>
            <a:ext cx="5508171" cy="523220"/>
          </a:xfrm>
          <a:prstGeom prst="rect">
            <a:avLst/>
          </a:prstGeom>
          <a:solidFill>
            <a:schemeClr val="dk1"/>
          </a:solidFill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s-MX" sz="2800" b="1" i="0" u="none" strike="noStrike" cap="none">
                <a:solidFill>
                  <a:srgbClr val="FFFF00"/>
                </a:solidFill>
                <a:latin typeface="Calibri"/>
                <a:ea typeface="Calibri"/>
                <a:cs typeface="Calibri"/>
                <a:sym typeface="Calibri"/>
              </a:rPr>
              <a:t>ANTECEDENTES GENERALES</a:t>
            </a:r>
            <a:endParaRPr sz="2800" b="1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7" name="Google Shape;97;p2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8653687" y="187714"/>
            <a:ext cx="3135088" cy="7715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slow">
    <p:wip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" name="Google Shape;102;p3" descr="Éxito, Gradualmente, Carrera, Persona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" y="0"/>
            <a:ext cx="10353626" cy="6899223"/>
          </a:xfrm>
          <a:prstGeom prst="rect">
            <a:avLst/>
          </a:prstGeom>
          <a:noFill/>
          <a:ln>
            <a:noFill/>
          </a:ln>
        </p:spPr>
      </p:pic>
      <p:sp>
        <p:nvSpPr>
          <p:cNvPr id="103" name="Google Shape;103;p3"/>
          <p:cNvSpPr/>
          <p:nvPr/>
        </p:nvSpPr>
        <p:spPr>
          <a:xfrm>
            <a:off x="-1" y="10119"/>
            <a:ext cx="12192000" cy="6899223"/>
          </a:xfrm>
          <a:prstGeom prst="rect">
            <a:avLst/>
          </a:prstGeom>
          <a:gradFill>
            <a:gsLst>
              <a:gs pos="0">
                <a:schemeClr val="lt2"/>
              </a:gs>
              <a:gs pos="24000">
                <a:schemeClr val="lt2"/>
              </a:gs>
              <a:gs pos="100000">
                <a:srgbClr val="E7E6E6">
                  <a:alpha val="32549"/>
                </a:srgbClr>
              </a:gs>
            </a:gsLst>
            <a:lin ang="10800000" scaled="0"/>
          </a:gradFill>
          <a:ln w="12700" cap="flat" cmpd="sng">
            <a:solidFill>
              <a:srgbClr val="1C3052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" name="Google Shape;104;p3"/>
          <p:cNvSpPr txBox="1"/>
          <p:nvPr/>
        </p:nvSpPr>
        <p:spPr>
          <a:xfrm>
            <a:off x="0" y="718142"/>
            <a:ext cx="5508171" cy="523220"/>
          </a:xfrm>
          <a:prstGeom prst="rect">
            <a:avLst/>
          </a:prstGeom>
          <a:solidFill>
            <a:schemeClr val="dk1"/>
          </a:solidFill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s-MX" sz="2800" b="1" i="0" u="none" strike="noStrike" cap="none">
                <a:solidFill>
                  <a:srgbClr val="FFFF00"/>
                </a:solidFill>
                <a:latin typeface="Calibri"/>
                <a:ea typeface="Calibri"/>
                <a:cs typeface="Calibri"/>
                <a:sym typeface="Calibri"/>
              </a:rPr>
              <a:t>FASES DEL PROCESO</a:t>
            </a:r>
            <a:endParaRPr sz="2800" b="1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5" name="Google Shape;105;p3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8653687" y="187714"/>
            <a:ext cx="3135088" cy="77152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06" name="Google Shape;106;p3"/>
          <p:cNvGrpSpPr/>
          <p:nvPr/>
        </p:nvGrpSpPr>
        <p:grpSpPr>
          <a:xfrm>
            <a:off x="1083696" y="1952794"/>
            <a:ext cx="10879699" cy="4009095"/>
            <a:chOff x="0" y="53840"/>
            <a:chExt cx="10476474" cy="4009095"/>
          </a:xfrm>
        </p:grpSpPr>
        <p:sp>
          <p:nvSpPr>
            <p:cNvPr id="107" name="Google Shape;107;p3"/>
            <p:cNvSpPr/>
            <p:nvPr/>
          </p:nvSpPr>
          <p:spPr>
            <a:xfrm>
              <a:off x="0" y="334280"/>
              <a:ext cx="10476474" cy="1077300"/>
            </a:xfrm>
            <a:prstGeom prst="rect">
              <a:avLst/>
            </a:prstGeom>
            <a:solidFill>
              <a:schemeClr val="lt1">
                <a:alpha val="88627"/>
              </a:schemeClr>
            </a:solidFill>
            <a:ln w="12700" cap="flat" cmpd="sng">
              <a:solidFill>
                <a:srgbClr val="4372C3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8" name="Google Shape;108;p3"/>
            <p:cNvSpPr txBox="1"/>
            <p:nvPr/>
          </p:nvSpPr>
          <p:spPr>
            <a:xfrm>
              <a:off x="0" y="334280"/>
              <a:ext cx="10476474" cy="1077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813075" tIns="395725" rIns="813075" bIns="135125" anchor="t" anchorCtr="0">
              <a:noAutofit/>
            </a:bodyPr>
            <a:lstStyle/>
            <a:p>
              <a:pPr marL="171450" marR="0" lvl="1" indent="-171450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900"/>
                <a:buFont typeface="Calibri"/>
                <a:buChar char="•"/>
              </a:pPr>
              <a:r>
                <a:rPr lang="es-MX" sz="19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Diseña una propuesta de proyecto que considera los intereses profesionales y la integración de competencias del perfil de egreso.</a:t>
              </a:r>
              <a:endParaRPr sz="1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9" name="Google Shape;109;p3"/>
            <p:cNvSpPr/>
            <p:nvPr/>
          </p:nvSpPr>
          <p:spPr>
            <a:xfrm>
              <a:off x="523823" y="53840"/>
              <a:ext cx="7333532" cy="560880"/>
            </a:xfrm>
            <a:prstGeom prst="roundRect">
              <a:avLst>
                <a:gd name="adj" fmla="val 16667"/>
              </a:avLst>
            </a:prstGeom>
            <a:solidFill>
              <a:schemeClr val="dk1"/>
            </a:solidFill>
            <a:ln w="12700" cap="flat" cmpd="sng">
              <a:solidFill>
                <a:schemeClr val="lt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0" name="Google Shape;110;p3"/>
            <p:cNvSpPr txBox="1"/>
            <p:nvPr/>
          </p:nvSpPr>
          <p:spPr>
            <a:xfrm>
              <a:off x="551203" y="81220"/>
              <a:ext cx="7278772" cy="50612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277175" tIns="0" rIns="277175" bIns="0" anchor="ctr" anchorCtr="0">
              <a:noAutofit/>
            </a:bodyPr>
            <a:lstStyle/>
            <a:p>
              <a:pPr marL="0" marR="0" lvl="0" indent="0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900"/>
                <a:buFont typeface="Calibri"/>
                <a:buNone/>
              </a:pPr>
              <a:r>
                <a:rPr lang="es-MX" sz="1900" b="0" i="0" u="none" strike="noStrike" cap="non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FASE 1: Definición proyecto APT – </a:t>
              </a:r>
              <a:r>
                <a:rPr lang="es-MX" sz="1900" b="1" i="0" u="none" strike="noStrike" cap="none">
                  <a:solidFill>
                    <a:srgbClr val="FFFF00"/>
                  </a:solidFill>
                  <a:latin typeface="Calibri"/>
                  <a:ea typeface="Calibri"/>
                  <a:cs typeface="Calibri"/>
                  <a:sym typeface="Calibri"/>
                </a:rPr>
                <a:t>20%</a:t>
              </a:r>
              <a:endParaRPr sz="1900" b="1" i="0" u="none" strike="noStrike" cap="none">
                <a:solidFill>
                  <a:srgbClr val="FFFF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1" name="Google Shape;111;p3"/>
            <p:cNvSpPr/>
            <p:nvPr/>
          </p:nvSpPr>
          <p:spPr>
            <a:xfrm>
              <a:off x="0" y="1794621"/>
              <a:ext cx="10476474" cy="807975"/>
            </a:xfrm>
            <a:prstGeom prst="rect">
              <a:avLst/>
            </a:prstGeom>
            <a:solidFill>
              <a:schemeClr val="lt1">
                <a:alpha val="88627"/>
              </a:schemeClr>
            </a:solidFill>
            <a:ln w="12700" cap="flat" cmpd="sng">
              <a:solidFill>
                <a:srgbClr val="4372C3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2" name="Google Shape;112;p3"/>
            <p:cNvSpPr txBox="1"/>
            <p:nvPr/>
          </p:nvSpPr>
          <p:spPr>
            <a:xfrm>
              <a:off x="0" y="1794621"/>
              <a:ext cx="10476474" cy="80797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813075" tIns="395725" rIns="813075" bIns="135125" anchor="t" anchorCtr="0">
              <a:noAutofit/>
            </a:bodyPr>
            <a:lstStyle/>
            <a:p>
              <a:pPr marL="171450" marR="0" lvl="1" indent="-171450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900"/>
                <a:buFont typeface="Calibri"/>
                <a:buChar char="•"/>
              </a:pPr>
              <a:r>
                <a:rPr lang="es-MX" sz="19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Desarrolla el Proyecto APT, según los estándares de calidad establecidos por la disciplina. </a:t>
              </a:r>
              <a:endParaRPr sz="1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3" name="Google Shape;113;p3"/>
            <p:cNvSpPr/>
            <p:nvPr/>
          </p:nvSpPr>
          <p:spPr>
            <a:xfrm>
              <a:off x="523823" y="1514181"/>
              <a:ext cx="7333532" cy="560880"/>
            </a:xfrm>
            <a:prstGeom prst="roundRect">
              <a:avLst>
                <a:gd name="adj" fmla="val 16667"/>
              </a:avLst>
            </a:prstGeom>
            <a:solidFill>
              <a:schemeClr val="dk1"/>
            </a:solidFill>
            <a:ln w="12700" cap="flat" cmpd="sng">
              <a:solidFill>
                <a:schemeClr val="lt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4" name="Google Shape;114;p3"/>
            <p:cNvSpPr txBox="1"/>
            <p:nvPr/>
          </p:nvSpPr>
          <p:spPr>
            <a:xfrm>
              <a:off x="551203" y="1541561"/>
              <a:ext cx="7278772" cy="50612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277175" tIns="0" rIns="277175" bIns="0" anchor="ctr" anchorCtr="0">
              <a:noAutofit/>
            </a:bodyPr>
            <a:lstStyle/>
            <a:p>
              <a:pPr marL="0" marR="0" lvl="0" indent="0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900"/>
                <a:buFont typeface="Calibri"/>
                <a:buNone/>
              </a:pPr>
              <a:r>
                <a:rPr lang="es-MX" sz="1900" b="0" i="0" u="none" strike="noStrike" cap="non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 FASE 2: Desarrollo proyecto APT – </a:t>
              </a:r>
              <a:r>
                <a:rPr lang="es-MX" sz="1900" b="1" i="0" u="none" strike="noStrike" cap="none">
                  <a:solidFill>
                    <a:srgbClr val="FFFF00"/>
                  </a:solidFill>
                  <a:latin typeface="Calibri"/>
                  <a:ea typeface="Calibri"/>
                  <a:cs typeface="Calibri"/>
                  <a:sym typeface="Calibri"/>
                </a:rPr>
                <a:t>50%</a:t>
              </a:r>
              <a:endParaRPr sz="1900" b="1" i="0" u="none" strike="noStrike" cap="none">
                <a:solidFill>
                  <a:srgbClr val="FFFF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5" name="Google Shape;115;p3"/>
            <p:cNvSpPr/>
            <p:nvPr/>
          </p:nvSpPr>
          <p:spPr>
            <a:xfrm>
              <a:off x="0" y="2985635"/>
              <a:ext cx="10476474" cy="1077300"/>
            </a:xfrm>
            <a:prstGeom prst="rect">
              <a:avLst/>
            </a:prstGeom>
            <a:solidFill>
              <a:schemeClr val="lt1">
                <a:alpha val="88627"/>
              </a:schemeClr>
            </a:solidFill>
            <a:ln w="12700" cap="flat" cmpd="sng">
              <a:solidFill>
                <a:srgbClr val="4372C3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6" name="Google Shape;116;p3"/>
            <p:cNvSpPr txBox="1"/>
            <p:nvPr/>
          </p:nvSpPr>
          <p:spPr>
            <a:xfrm>
              <a:off x="0" y="2985635"/>
              <a:ext cx="10476474" cy="1077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813075" tIns="395725" rIns="813075" bIns="135125" anchor="t" anchorCtr="0">
              <a:noAutofit/>
            </a:bodyPr>
            <a:lstStyle/>
            <a:p>
              <a:pPr marL="171450" marR="0" lvl="1" indent="-171450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900"/>
                <a:buFont typeface="Calibri"/>
                <a:buChar char="•"/>
              </a:pPr>
              <a:r>
                <a:rPr lang="es-MX" sz="19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Presenta el Proyecto APT realizado, considerando las evidencias que dan cuenta del logro de las competencias del perfil de egreso.</a:t>
              </a:r>
              <a:endParaRPr sz="1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7" name="Google Shape;117;p3"/>
            <p:cNvSpPr/>
            <p:nvPr/>
          </p:nvSpPr>
          <p:spPr>
            <a:xfrm>
              <a:off x="523823" y="2705196"/>
              <a:ext cx="7333532" cy="560880"/>
            </a:xfrm>
            <a:prstGeom prst="roundRect">
              <a:avLst>
                <a:gd name="adj" fmla="val 16667"/>
              </a:avLst>
            </a:prstGeom>
            <a:solidFill>
              <a:schemeClr val="dk1"/>
            </a:solidFill>
            <a:ln w="12700" cap="flat" cmpd="sng">
              <a:solidFill>
                <a:schemeClr val="lt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8" name="Google Shape;118;p3"/>
            <p:cNvSpPr txBox="1"/>
            <p:nvPr/>
          </p:nvSpPr>
          <p:spPr>
            <a:xfrm>
              <a:off x="551203" y="2732576"/>
              <a:ext cx="7278772" cy="50612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277175" tIns="0" rIns="277175" bIns="0" anchor="ctr" anchorCtr="0">
              <a:noAutofit/>
            </a:bodyPr>
            <a:lstStyle/>
            <a:p>
              <a:pPr marL="0" marR="0" lvl="0" indent="0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900"/>
                <a:buFont typeface="Calibri"/>
                <a:buNone/>
              </a:pPr>
              <a:r>
                <a:rPr lang="es-MX" sz="1900" b="0" i="0" u="none" strike="noStrike" cap="non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FASE 3: Presentación Proyecto APT – </a:t>
              </a:r>
              <a:r>
                <a:rPr lang="es-MX" sz="1900" b="1" i="0" u="none" strike="noStrike" cap="none">
                  <a:solidFill>
                    <a:srgbClr val="FFFF00"/>
                  </a:solidFill>
                  <a:latin typeface="Calibri"/>
                  <a:ea typeface="Calibri"/>
                  <a:cs typeface="Calibri"/>
                  <a:sym typeface="Calibri"/>
                </a:rPr>
                <a:t>30%</a:t>
              </a:r>
              <a:endParaRPr sz="1900" b="1" i="0" u="none" strike="noStrike" cap="none">
                <a:solidFill>
                  <a:srgbClr val="FFFF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  <p:transition spd="slow">
    <p:wip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3" name="Google Shape;123;p4" descr="Diario, Escribir, Blanco, Paginas, Notas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0291763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24" name="Google Shape;124;p4"/>
          <p:cNvSpPr/>
          <p:nvPr/>
        </p:nvSpPr>
        <p:spPr>
          <a:xfrm>
            <a:off x="0" y="0"/>
            <a:ext cx="12192000" cy="6899223"/>
          </a:xfrm>
          <a:prstGeom prst="rect">
            <a:avLst/>
          </a:prstGeom>
          <a:gradFill>
            <a:gsLst>
              <a:gs pos="0">
                <a:schemeClr val="lt2"/>
              </a:gs>
              <a:gs pos="42000">
                <a:schemeClr val="lt2"/>
              </a:gs>
              <a:gs pos="100000">
                <a:srgbClr val="E7E6E6">
                  <a:alpha val="784"/>
                </a:srgbClr>
              </a:gs>
            </a:gsLst>
            <a:lin ang="10800000" scaled="0"/>
          </a:gradFill>
          <a:ln w="12700" cap="flat" cmpd="sng">
            <a:solidFill>
              <a:srgbClr val="1C3052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" name="Google Shape;125;p4"/>
          <p:cNvSpPr txBox="1"/>
          <p:nvPr/>
        </p:nvSpPr>
        <p:spPr>
          <a:xfrm>
            <a:off x="0" y="770911"/>
            <a:ext cx="6389914" cy="523220"/>
          </a:xfrm>
          <a:prstGeom prst="rect">
            <a:avLst/>
          </a:prstGeom>
          <a:solidFill>
            <a:schemeClr val="dk1"/>
          </a:solidFill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s-MX" sz="2800" b="1" i="0" u="none" strike="noStrike" cap="none">
                <a:solidFill>
                  <a:srgbClr val="FFFF00"/>
                </a:solidFill>
                <a:latin typeface="Calibri"/>
                <a:ea typeface="Calibri"/>
                <a:cs typeface="Calibri"/>
                <a:sym typeface="Calibri"/>
              </a:rPr>
              <a:t>FASE 1: Definición proyecto APT – 20%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26" name="Google Shape;126;p4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8653687" y="187714"/>
            <a:ext cx="3135088" cy="77152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27" name="Google Shape;127;p4"/>
          <p:cNvGrpSpPr/>
          <p:nvPr/>
        </p:nvGrpSpPr>
        <p:grpSpPr>
          <a:xfrm>
            <a:off x="857762" y="1971819"/>
            <a:ext cx="10476474" cy="3873600"/>
            <a:chOff x="0" y="121588"/>
            <a:chExt cx="10476474" cy="3873600"/>
          </a:xfrm>
        </p:grpSpPr>
        <p:sp>
          <p:nvSpPr>
            <p:cNvPr id="128" name="Google Shape;128;p4"/>
            <p:cNvSpPr/>
            <p:nvPr/>
          </p:nvSpPr>
          <p:spPr>
            <a:xfrm>
              <a:off x="0" y="416788"/>
              <a:ext cx="10476474" cy="1102500"/>
            </a:xfrm>
            <a:prstGeom prst="rect">
              <a:avLst/>
            </a:prstGeom>
            <a:solidFill>
              <a:schemeClr val="lt1">
                <a:alpha val="88627"/>
              </a:schemeClr>
            </a:solidFill>
            <a:ln w="12700" cap="flat" cmpd="sng">
              <a:solidFill>
                <a:srgbClr val="4372C3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9" name="Google Shape;129;p4"/>
            <p:cNvSpPr txBox="1"/>
            <p:nvPr/>
          </p:nvSpPr>
          <p:spPr>
            <a:xfrm>
              <a:off x="0" y="416788"/>
              <a:ext cx="10476474" cy="1102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813075" tIns="416550" rIns="813075" bIns="135125" anchor="t" anchorCtr="0">
              <a:noAutofit/>
            </a:bodyPr>
            <a:lstStyle/>
            <a:p>
              <a:pPr marL="171450" marR="0" lvl="1" indent="-171450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900"/>
                <a:buFont typeface="Calibri"/>
                <a:buChar char="•"/>
              </a:pPr>
              <a:r>
                <a:rPr lang="es-MX" sz="19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Seleccionar una de sus propuestas de Proyecto APT realizadas en el último semestre de APP y realizar ajustes si lo requiere (Indicar tecnologías y metodologías a utilizar)</a:t>
              </a:r>
              <a:endParaRPr sz="1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0" name="Google Shape;130;p4"/>
            <p:cNvSpPr/>
            <p:nvPr/>
          </p:nvSpPr>
          <p:spPr>
            <a:xfrm>
              <a:off x="523823" y="121588"/>
              <a:ext cx="7333532" cy="590400"/>
            </a:xfrm>
            <a:prstGeom prst="roundRect">
              <a:avLst>
                <a:gd name="adj" fmla="val 16667"/>
              </a:avLst>
            </a:prstGeom>
            <a:solidFill>
              <a:schemeClr val="dk1"/>
            </a:solidFill>
            <a:ln w="12700" cap="flat" cmpd="sng">
              <a:solidFill>
                <a:schemeClr val="lt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1" name="Google Shape;131;p4"/>
            <p:cNvSpPr txBox="1"/>
            <p:nvPr/>
          </p:nvSpPr>
          <p:spPr>
            <a:xfrm>
              <a:off x="552644" y="150409"/>
              <a:ext cx="7275890" cy="53275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277175" tIns="0" rIns="277175" bIns="0" anchor="ctr" anchorCtr="0">
              <a:noAutofit/>
            </a:bodyPr>
            <a:lstStyle/>
            <a:p>
              <a:pPr marL="0" marR="0" lvl="0" indent="0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900"/>
                <a:buFont typeface="Calibri"/>
                <a:buNone/>
              </a:pPr>
              <a:r>
                <a:rPr lang="es-MX" sz="1900" b="0" i="0" u="none" strike="noStrike" cap="non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Proyecto </a:t>
              </a:r>
              <a:r>
                <a:rPr lang="es-MX" sz="1900" b="0" i="0" u="none" strike="noStrike" cap="non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APP</a:t>
              </a:r>
              <a:r>
                <a:rPr lang="es-MX" sz="1900" b="0" i="0" u="none" strike="noStrike" cap="non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 Final</a:t>
              </a:r>
              <a:endParaRPr sz="19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2" name="Google Shape;132;p4"/>
            <p:cNvSpPr/>
            <p:nvPr/>
          </p:nvSpPr>
          <p:spPr>
            <a:xfrm>
              <a:off x="0" y="1922488"/>
              <a:ext cx="10476474" cy="819000"/>
            </a:xfrm>
            <a:prstGeom prst="rect">
              <a:avLst/>
            </a:prstGeom>
            <a:solidFill>
              <a:schemeClr val="lt1">
                <a:alpha val="88627"/>
              </a:schemeClr>
            </a:solidFill>
            <a:ln w="12700" cap="flat" cmpd="sng">
              <a:solidFill>
                <a:srgbClr val="4372C3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3" name="Google Shape;133;p4"/>
            <p:cNvSpPr txBox="1"/>
            <p:nvPr/>
          </p:nvSpPr>
          <p:spPr>
            <a:xfrm>
              <a:off x="0" y="1922488"/>
              <a:ext cx="10476474" cy="819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813075" tIns="416550" rIns="813075" bIns="135125" anchor="t" anchorCtr="0">
              <a:noAutofit/>
            </a:bodyPr>
            <a:lstStyle/>
            <a:p>
              <a:pPr marL="171450" marR="0" lvl="1" indent="-171450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900"/>
                <a:buFont typeface="Calibri"/>
                <a:buChar char="•"/>
              </a:pPr>
              <a:r>
                <a:rPr lang="es-MX" sz="19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Generar una nueva idea de proyecto (Indicar tecnologías y metodologías a utilizar)</a:t>
              </a:r>
              <a:endParaRPr sz="1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4" name="Google Shape;134;p4"/>
            <p:cNvSpPr/>
            <p:nvPr/>
          </p:nvSpPr>
          <p:spPr>
            <a:xfrm>
              <a:off x="523823" y="1627288"/>
              <a:ext cx="7333532" cy="590400"/>
            </a:xfrm>
            <a:prstGeom prst="roundRect">
              <a:avLst>
                <a:gd name="adj" fmla="val 16667"/>
              </a:avLst>
            </a:prstGeom>
            <a:solidFill>
              <a:schemeClr val="dk1"/>
            </a:solidFill>
            <a:ln w="12700" cap="flat" cmpd="sng">
              <a:solidFill>
                <a:schemeClr val="lt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5" name="Google Shape;135;p4"/>
            <p:cNvSpPr txBox="1"/>
            <p:nvPr/>
          </p:nvSpPr>
          <p:spPr>
            <a:xfrm>
              <a:off x="552644" y="1656109"/>
              <a:ext cx="7275890" cy="53275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277175" tIns="0" rIns="277175" bIns="0" anchor="ctr" anchorCtr="0">
              <a:noAutofit/>
            </a:bodyPr>
            <a:lstStyle/>
            <a:p>
              <a:pPr marL="0" marR="0" lvl="0" indent="0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900"/>
                <a:buFont typeface="Calibri"/>
                <a:buNone/>
              </a:pPr>
              <a:r>
                <a:rPr lang="es-MX" sz="1900" b="0" i="0" u="none" strike="noStrike" cap="non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Proponer un nuevo Proyecto APT</a:t>
              </a:r>
              <a:endParaRPr sz="19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6" name="Google Shape;136;p4"/>
            <p:cNvSpPr/>
            <p:nvPr/>
          </p:nvSpPr>
          <p:spPr>
            <a:xfrm>
              <a:off x="0" y="3144688"/>
              <a:ext cx="10476474" cy="850500"/>
            </a:xfrm>
            <a:prstGeom prst="rect">
              <a:avLst/>
            </a:prstGeom>
            <a:solidFill>
              <a:schemeClr val="lt1">
                <a:alpha val="88627"/>
              </a:schemeClr>
            </a:solidFill>
            <a:ln w="12700" cap="flat" cmpd="sng">
              <a:solidFill>
                <a:srgbClr val="4372C3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7" name="Google Shape;137;p4"/>
            <p:cNvSpPr txBox="1"/>
            <p:nvPr/>
          </p:nvSpPr>
          <p:spPr>
            <a:xfrm>
              <a:off x="0" y="3144688"/>
              <a:ext cx="10476474" cy="850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813075" tIns="416550" rIns="813075" bIns="142225" anchor="t" anchorCtr="0">
              <a:noAutofit/>
            </a:bodyPr>
            <a:lstStyle/>
            <a:p>
              <a:pPr marL="228600" marR="0" lvl="1" indent="-228600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000"/>
                <a:buFont typeface="Calibri"/>
                <a:buChar char="•"/>
              </a:pPr>
              <a:r>
                <a:rPr lang="es-MX" sz="20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Esta alternativa sólo se puede ejecutar en casos excepcionales</a:t>
              </a:r>
              <a:endPara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8" name="Google Shape;138;p4"/>
            <p:cNvSpPr/>
            <p:nvPr/>
          </p:nvSpPr>
          <p:spPr>
            <a:xfrm>
              <a:off x="523823" y="2849488"/>
              <a:ext cx="7333532" cy="590400"/>
            </a:xfrm>
            <a:prstGeom prst="roundRect">
              <a:avLst>
                <a:gd name="adj" fmla="val 16667"/>
              </a:avLst>
            </a:prstGeom>
            <a:solidFill>
              <a:schemeClr val="dk1"/>
            </a:solidFill>
            <a:ln w="12700" cap="flat" cmpd="sng">
              <a:solidFill>
                <a:schemeClr val="lt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9" name="Google Shape;139;p4"/>
            <p:cNvSpPr txBox="1"/>
            <p:nvPr/>
          </p:nvSpPr>
          <p:spPr>
            <a:xfrm>
              <a:off x="552644" y="2878309"/>
              <a:ext cx="7275890" cy="53275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277175" tIns="0" rIns="277175" bIns="0" anchor="ctr" anchorCtr="0">
              <a:noAutofit/>
            </a:bodyPr>
            <a:lstStyle/>
            <a:p>
              <a:pPr marL="0" marR="0" lvl="0" indent="0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000"/>
                <a:buFont typeface="Calibri"/>
                <a:buNone/>
              </a:pPr>
              <a:r>
                <a:rPr lang="es-MX" sz="2000" b="0" i="0" u="none" strike="noStrike" cap="non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Seleccionar alguno de los proyectos propuestos por la escuela.</a:t>
              </a:r>
              <a:endParaRPr sz="20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  <p:transition spd="slow">
    <p:wip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4" name="Google Shape;144;p5" descr="Diario, Escribir, Blanco, Paginas, Notas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0291763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45" name="Google Shape;145;p5"/>
          <p:cNvSpPr/>
          <p:nvPr/>
        </p:nvSpPr>
        <p:spPr>
          <a:xfrm>
            <a:off x="0" y="0"/>
            <a:ext cx="12192000" cy="6899223"/>
          </a:xfrm>
          <a:prstGeom prst="rect">
            <a:avLst/>
          </a:prstGeom>
          <a:gradFill>
            <a:gsLst>
              <a:gs pos="0">
                <a:schemeClr val="lt2"/>
              </a:gs>
              <a:gs pos="42000">
                <a:schemeClr val="lt2"/>
              </a:gs>
              <a:gs pos="100000">
                <a:srgbClr val="E7E6E6">
                  <a:alpha val="784"/>
                </a:srgbClr>
              </a:gs>
            </a:gsLst>
            <a:lin ang="10800000" scaled="0"/>
          </a:gradFill>
          <a:ln w="12700" cap="flat" cmpd="sng">
            <a:solidFill>
              <a:srgbClr val="1C3052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" name="Google Shape;146;p5"/>
          <p:cNvSpPr txBox="1"/>
          <p:nvPr/>
        </p:nvSpPr>
        <p:spPr>
          <a:xfrm>
            <a:off x="0" y="770911"/>
            <a:ext cx="6389914" cy="523220"/>
          </a:xfrm>
          <a:prstGeom prst="rect">
            <a:avLst/>
          </a:prstGeom>
          <a:solidFill>
            <a:schemeClr val="dk1"/>
          </a:solidFill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s-MX" sz="2800" b="1" i="0" u="none" strike="noStrike" cap="none">
                <a:solidFill>
                  <a:srgbClr val="FFFF00"/>
                </a:solidFill>
                <a:latin typeface="Calibri"/>
                <a:ea typeface="Calibri"/>
                <a:cs typeface="Calibri"/>
                <a:sym typeface="Calibri"/>
              </a:rPr>
              <a:t>FASE 1: Definición proyecto APT – 20%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47" name="Google Shape;147;p5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8653687" y="187714"/>
            <a:ext cx="3135088" cy="77152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48" name="Google Shape;148;p5"/>
          <p:cNvGrpSpPr/>
          <p:nvPr/>
        </p:nvGrpSpPr>
        <p:grpSpPr>
          <a:xfrm>
            <a:off x="918738" y="1605509"/>
            <a:ext cx="10942351" cy="4724325"/>
            <a:chOff x="0" y="38307"/>
            <a:chExt cx="10942351" cy="4724325"/>
          </a:xfrm>
        </p:grpSpPr>
        <p:sp>
          <p:nvSpPr>
            <p:cNvPr id="149" name="Google Shape;149;p5"/>
            <p:cNvSpPr/>
            <p:nvPr/>
          </p:nvSpPr>
          <p:spPr>
            <a:xfrm>
              <a:off x="0" y="259707"/>
              <a:ext cx="10942351" cy="1252125"/>
            </a:xfrm>
            <a:prstGeom prst="rect">
              <a:avLst/>
            </a:prstGeom>
            <a:solidFill>
              <a:schemeClr val="lt1">
                <a:alpha val="88627"/>
              </a:schemeClr>
            </a:solidFill>
            <a:ln w="12700" cap="flat" cmpd="sng">
              <a:solidFill>
                <a:srgbClr val="4372C3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0" name="Google Shape;150;p5"/>
            <p:cNvSpPr txBox="1"/>
            <p:nvPr/>
          </p:nvSpPr>
          <p:spPr>
            <a:xfrm>
              <a:off x="0" y="259707"/>
              <a:ext cx="10942351" cy="125212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849225" tIns="312400" rIns="849225" bIns="135125" anchor="t" anchorCtr="0">
              <a:noAutofit/>
            </a:bodyPr>
            <a:lstStyle/>
            <a:p>
              <a:pPr marL="171450" marR="0" lvl="1" indent="-171450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900"/>
                <a:buFont typeface="Calibri"/>
                <a:buChar char="•"/>
              </a:pPr>
              <a:r>
                <a:rPr lang="es-MX" sz="19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Debe integrar la mayor cantidad de competencias del perfil de egreso (al menos dos competencias), que permitan al estudiante poner de manifiesto aprendizajes de diferentes asignaturas de la carrera.</a:t>
              </a:r>
              <a:endParaRPr sz="1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1" name="Google Shape;151;p5"/>
            <p:cNvSpPr/>
            <p:nvPr/>
          </p:nvSpPr>
          <p:spPr>
            <a:xfrm>
              <a:off x="547117" y="38307"/>
              <a:ext cx="7659646" cy="442800"/>
            </a:xfrm>
            <a:prstGeom prst="roundRect">
              <a:avLst>
                <a:gd name="adj" fmla="val 16667"/>
              </a:avLst>
            </a:prstGeom>
            <a:solidFill>
              <a:schemeClr val="dk1"/>
            </a:solidFill>
            <a:ln w="12700" cap="flat" cmpd="sng">
              <a:solidFill>
                <a:schemeClr val="lt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2" name="Google Shape;152;p5"/>
            <p:cNvSpPr txBox="1"/>
            <p:nvPr/>
          </p:nvSpPr>
          <p:spPr>
            <a:xfrm>
              <a:off x="568733" y="59923"/>
              <a:ext cx="7616414" cy="39956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289500" tIns="0" rIns="289500" bIns="0" anchor="ctr" anchorCtr="0">
              <a:noAutofit/>
            </a:bodyPr>
            <a:lstStyle/>
            <a:p>
              <a:pPr marL="0" marR="0" lvl="0" indent="0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900"/>
                <a:buFont typeface="Calibri"/>
                <a:buNone/>
              </a:pPr>
              <a:r>
                <a:rPr lang="es-MX" sz="1900" b="0" i="0" u="none" strike="noStrike" cap="non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Integración de competencias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3" name="Google Shape;153;p5"/>
            <p:cNvSpPr/>
            <p:nvPr/>
          </p:nvSpPr>
          <p:spPr>
            <a:xfrm>
              <a:off x="0" y="1814233"/>
              <a:ext cx="10942351" cy="992250"/>
            </a:xfrm>
            <a:prstGeom prst="rect">
              <a:avLst/>
            </a:prstGeom>
            <a:solidFill>
              <a:schemeClr val="lt1">
                <a:alpha val="88627"/>
              </a:schemeClr>
            </a:solidFill>
            <a:ln w="12700" cap="flat" cmpd="sng">
              <a:solidFill>
                <a:srgbClr val="4372C3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4" name="Google Shape;154;p5"/>
            <p:cNvSpPr txBox="1"/>
            <p:nvPr/>
          </p:nvSpPr>
          <p:spPr>
            <a:xfrm>
              <a:off x="0" y="1814233"/>
              <a:ext cx="10942351" cy="99225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849225" tIns="312400" rIns="849225" bIns="135125" anchor="t" anchorCtr="0">
              <a:noAutofit/>
            </a:bodyPr>
            <a:lstStyle/>
            <a:p>
              <a:pPr marL="171450" marR="0" lvl="1" indent="-171450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900"/>
                <a:buFont typeface="Calibri"/>
                <a:buChar char="•"/>
              </a:pPr>
              <a:r>
                <a:rPr lang="es-MX" sz="19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Debe ser una situación real o simulada a la que el estudiante podría enfrentarse en el campo laboral. El Proyecto APT debe ser consistente con los principios de la evaluación.</a:t>
              </a:r>
              <a:endParaRPr sz="1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5" name="Google Shape;155;p5"/>
            <p:cNvSpPr/>
            <p:nvPr/>
          </p:nvSpPr>
          <p:spPr>
            <a:xfrm>
              <a:off x="547117" y="1592833"/>
              <a:ext cx="7659646" cy="442800"/>
            </a:xfrm>
            <a:prstGeom prst="roundRect">
              <a:avLst>
                <a:gd name="adj" fmla="val 16667"/>
              </a:avLst>
            </a:prstGeom>
            <a:solidFill>
              <a:schemeClr val="dk1"/>
            </a:solidFill>
            <a:ln w="12700" cap="flat" cmpd="sng">
              <a:solidFill>
                <a:schemeClr val="lt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6" name="Google Shape;156;p5"/>
            <p:cNvSpPr txBox="1"/>
            <p:nvPr/>
          </p:nvSpPr>
          <p:spPr>
            <a:xfrm>
              <a:off x="568733" y="1614449"/>
              <a:ext cx="7616414" cy="39956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289500" tIns="0" rIns="289500" bIns="0" anchor="ctr" anchorCtr="0">
              <a:noAutofit/>
            </a:bodyPr>
            <a:lstStyle/>
            <a:p>
              <a:pPr marL="0" marR="0" lvl="0" indent="0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900"/>
                <a:buFont typeface="Calibri"/>
                <a:buNone/>
              </a:pPr>
              <a:r>
                <a:rPr lang="es-MX" sz="1900" b="0" i="0" u="none" strike="noStrike" cap="non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Situación real o simulada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7" name="Google Shape;157;p5"/>
            <p:cNvSpPr/>
            <p:nvPr/>
          </p:nvSpPr>
          <p:spPr>
            <a:xfrm>
              <a:off x="0" y="3108882"/>
              <a:ext cx="10942351" cy="1653750"/>
            </a:xfrm>
            <a:prstGeom prst="rect">
              <a:avLst/>
            </a:prstGeom>
            <a:solidFill>
              <a:schemeClr val="lt1">
                <a:alpha val="88627"/>
              </a:schemeClr>
            </a:solidFill>
            <a:ln w="12700" cap="flat" cmpd="sng">
              <a:solidFill>
                <a:srgbClr val="4372C3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8" name="Google Shape;158;p5"/>
            <p:cNvSpPr txBox="1"/>
            <p:nvPr/>
          </p:nvSpPr>
          <p:spPr>
            <a:xfrm>
              <a:off x="0" y="3108882"/>
              <a:ext cx="10942351" cy="165375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849225" tIns="312400" rIns="849225" bIns="135125" anchor="t" anchorCtr="0">
              <a:noAutofit/>
            </a:bodyPr>
            <a:lstStyle/>
            <a:p>
              <a:pPr marL="171450" marR="0" lvl="1" indent="-171450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900"/>
                <a:buFont typeface="Calibri"/>
                <a:buChar char="•"/>
              </a:pPr>
              <a:r>
                <a:rPr lang="es-MX" sz="19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Debe ser un proyecto posible de realizar, considerando los siguientes aspectos:</a:t>
              </a:r>
              <a:endParaRPr sz="1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marL="342900" marR="0" lvl="2" indent="-171450" algn="l" rtl="0">
                <a:lnSpc>
                  <a:spcPct val="90000"/>
                </a:lnSpc>
                <a:spcBef>
                  <a:spcPts val="285"/>
                </a:spcBef>
                <a:spcAft>
                  <a:spcPts val="0"/>
                </a:spcAft>
                <a:buClr>
                  <a:schemeClr val="dk1"/>
                </a:buClr>
                <a:buSzPts val="1900"/>
                <a:buFont typeface="Calibri"/>
                <a:buChar char="•"/>
              </a:pPr>
              <a:r>
                <a:rPr lang="es-MX" sz="19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El tiempo estipulado para esta asignatura (durante un semestre y 20 créditos);</a:t>
              </a:r>
              <a:endParaRPr sz="1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marL="342900" marR="0" lvl="2" indent="-171450" algn="l" rtl="0">
                <a:lnSpc>
                  <a:spcPct val="90000"/>
                </a:lnSpc>
                <a:spcBef>
                  <a:spcPts val="285"/>
                </a:spcBef>
                <a:spcAft>
                  <a:spcPts val="0"/>
                </a:spcAft>
                <a:buClr>
                  <a:schemeClr val="dk1"/>
                </a:buClr>
                <a:buSzPts val="1900"/>
                <a:buFont typeface="Calibri"/>
                <a:buChar char="•"/>
              </a:pPr>
              <a:r>
                <a:rPr lang="es-MX" sz="19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Los materiales que se requieren;</a:t>
              </a:r>
              <a:endParaRPr sz="1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marL="342900" marR="0" lvl="2" indent="-171450" algn="l" rtl="0">
                <a:lnSpc>
                  <a:spcPct val="90000"/>
                </a:lnSpc>
                <a:spcBef>
                  <a:spcPts val="285"/>
                </a:spcBef>
                <a:spcAft>
                  <a:spcPts val="0"/>
                </a:spcAft>
                <a:buClr>
                  <a:schemeClr val="dk1"/>
                </a:buClr>
                <a:buSzPts val="1900"/>
                <a:buFont typeface="Calibri"/>
                <a:buChar char="•"/>
              </a:pPr>
              <a:r>
                <a:rPr lang="es-MX" sz="19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Los factores externos que podrían facilitar o dificultar su implementación.</a:t>
              </a:r>
              <a:endParaRPr sz="1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9" name="Google Shape;159;p5"/>
            <p:cNvSpPr/>
            <p:nvPr/>
          </p:nvSpPr>
          <p:spPr>
            <a:xfrm>
              <a:off x="547117" y="2887483"/>
              <a:ext cx="7659646" cy="442800"/>
            </a:xfrm>
            <a:prstGeom prst="roundRect">
              <a:avLst>
                <a:gd name="adj" fmla="val 16667"/>
              </a:avLst>
            </a:prstGeom>
            <a:solidFill>
              <a:schemeClr val="dk1"/>
            </a:solidFill>
            <a:ln w="12700" cap="flat" cmpd="sng">
              <a:solidFill>
                <a:schemeClr val="lt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0" name="Google Shape;160;p5"/>
            <p:cNvSpPr txBox="1"/>
            <p:nvPr/>
          </p:nvSpPr>
          <p:spPr>
            <a:xfrm>
              <a:off x="568733" y="2909099"/>
              <a:ext cx="7616414" cy="39956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289500" tIns="0" rIns="289500" bIns="0" anchor="ctr" anchorCtr="0">
              <a:noAutofit/>
            </a:bodyPr>
            <a:lstStyle/>
            <a:p>
              <a:pPr marL="0" marR="0" lvl="0" indent="0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900"/>
                <a:buFont typeface="Calibri"/>
                <a:buNone/>
              </a:pPr>
              <a:r>
                <a:rPr lang="es-MX" sz="1900" b="0" i="0" u="none" strike="noStrike" cap="non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Factibilidad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  <p:transition spd="slow">
    <p:wip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5" name="Google Shape;165;g25f96ad8ad9_0_1" descr="Diario, Escribir, Blanco, Paginas, Notas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0291763" cy="6858001"/>
          </a:xfrm>
          <a:prstGeom prst="rect">
            <a:avLst/>
          </a:prstGeom>
          <a:noFill/>
          <a:ln>
            <a:noFill/>
          </a:ln>
        </p:spPr>
      </p:pic>
      <p:sp>
        <p:nvSpPr>
          <p:cNvPr id="166" name="Google Shape;166;g25f96ad8ad9_0_1"/>
          <p:cNvSpPr/>
          <p:nvPr/>
        </p:nvSpPr>
        <p:spPr>
          <a:xfrm>
            <a:off x="0" y="0"/>
            <a:ext cx="12192000" cy="6899100"/>
          </a:xfrm>
          <a:prstGeom prst="rect">
            <a:avLst/>
          </a:prstGeom>
          <a:gradFill>
            <a:gsLst>
              <a:gs pos="0">
                <a:schemeClr val="lt2"/>
              </a:gs>
              <a:gs pos="42000">
                <a:schemeClr val="lt2"/>
              </a:gs>
              <a:gs pos="100000">
                <a:srgbClr val="E7E6E6">
                  <a:alpha val="784"/>
                </a:srgbClr>
              </a:gs>
            </a:gsLst>
            <a:lin ang="10800025" scaled="0"/>
          </a:gradFill>
          <a:ln w="12700" cap="flat" cmpd="sng">
            <a:solidFill>
              <a:srgbClr val="1C3052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7" name="Google Shape;167;g25f96ad8ad9_0_1"/>
          <p:cNvSpPr txBox="1"/>
          <p:nvPr/>
        </p:nvSpPr>
        <p:spPr>
          <a:xfrm>
            <a:off x="0" y="770911"/>
            <a:ext cx="6390000" cy="523200"/>
          </a:xfrm>
          <a:prstGeom prst="rect">
            <a:avLst/>
          </a:prstGeom>
          <a:solidFill>
            <a:schemeClr val="dk1"/>
          </a:solidFill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s-MX" sz="2800" b="1" i="0" u="none" strike="noStrike" cap="none">
                <a:solidFill>
                  <a:srgbClr val="FFFF00"/>
                </a:solidFill>
                <a:latin typeface="Calibri"/>
                <a:ea typeface="Calibri"/>
                <a:cs typeface="Calibri"/>
                <a:sym typeface="Calibri"/>
              </a:rPr>
              <a:t>FASE 1: Definición proyecto APT – 20%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68" name="Google Shape;168;g25f96ad8ad9_0_1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8653687" y="187714"/>
            <a:ext cx="3135088" cy="7715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69" name="Google Shape;169;g25f96ad8ad9_0_1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95325" y="2075350"/>
            <a:ext cx="10801350" cy="4019550"/>
          </a:xfrm>
          <a:prstGeom prst="rect">
            <a:avLst/>
          </a:prstGeom>
          <a:noFill/>
          <a:ln>
            <a:noFill/>
          </a:ln>
        </p:spPr>
      </p:pic>
      <p:sp>
        <p:nvSpPr>
          <p:cNvPr id="170" name="Google Shape;170;g25f96ad8ad9_0_1"/>
          <p:cNvSpPr txBox="1"/>
          <p:nvPr/>
        </p:nvSpPr>
        <p:spPr>
          <a:xfrm>
            <a:off x="604775" y="1446225"/>
            <a:ext cx="1654500" cy="477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lang="es-MX" sz="1900" b="0" i="0" u="none" strike="noStrike" cap="none">
                <a:solidFill>
                  <a:srgbClr val="0000FF"/>
                </a:solidFill>
                <a:latin typeface="Calibri"/>
                <a:ea typeface="Calibri"/>
                <a:cs typeface="Calibri"/>
                <a:sym typeface="Calibri"/>
              </a:rPr>
              <a:t>Competencias</a:t>
            </a:r>
            <a:endParaRPr sz="1900" b="0" i="0" u="none" strike="noStrike" cap="none">
              <a:solidFill>
                <a:srgbClr val="0000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5" name="Google Shape;175;p6" descr="Free Job Office photo and picture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-1" y="0"/>
            <a:ext cx="1138555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76" name="Google Shape;176;p6"/>
          <p:cNvSpPr/>
          <p:nvPr/>
        </p:nvSpPr>
        <p:spPr>
          <a:xfrm>
            <a:off x="0" y="0"/>
            <a:ext cx="12192000" cy="6899223"/>
          </a:xfrm>
          <a:prstGeom prst="rect">
            <a:avLst/>
          </a:prstGeom>
          <a:gradFill>
            <a:gsLst>
              <a:gs pos="0">
                <a:schemeClr val="lt2"/>
              </a:gs>
              <a:gs pos="31000">
                <a:schemeClr val="lt2"/>
              </a:gs>
              <a:gs pos="100000">
                <a:srgbClr val="E7E6E6">
                  <a:alpha val="32549"/>
                </a:srgbClr>
              </a:gs>
            </a:gsLst>
            <a:lin ang="10800000" scaled="0"/>
          </a:gradFill>
          <a:ln w="12700" cap="flat" cmpd="sng">
            <a:solidFill>
              <a:srgbClr val="1C3052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7" name="Google Shape;177;p6"/>
          <p:cNvSpPr txBox="1"/>
          <p:nvPr/>
        </p:nvSpPr>
        <p:spPr>
          <a:xfrm>
            <a:off x="403226" y="1645938"/>
            <a:ext cx="11385549" cy="3016210"/>
          </a:xfrm>
          <a:prstGeom prst="rect">
            <a:avLst/>
          </a:prstGeom>
          <a:solidFill>
            <a:schemeClr val="dk1"/>
          </a:solidFill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lang="es-MX" sz="19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- Se debe resguardar que el proyecto permita evidenciar los logros individuales (ej: grupos pequeños, definición diferenciada de roles y responsabilidades, presentación individual, etc.)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endParaRPr sz="19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lang="es-MX" sz="19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- Se debe señalar la relevancia del proyecto, la descripción general de este, pertinencia con el perfil de egreso, relación con los intereses personales y la factibilidad de desarrollarlo.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endParaRPr sz="19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lang="es-MX" sz="19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- Se deben especificar los objetivos, la metodología, evidencias y plan de trabajo del Proyecto APT, de acuerdo con los estándares de calidad definidos por la disciplina. Las evidencias que se definan deben permitir visualizar directamente el desempeño de los/las estudiantes o resultados del Proyecto APT (video, fotografías, maqueta, entre otros).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8" name="Google Shape;178;p6"/>
          <p:cNvSpPr txBox="1"/>
          <p:nvPr/>
        </p:nvSpPr>
        <p:spPr>
          <a:xfrm>
            <a:off x="-2" y="777133"/>
            <a:ext cx="5508171" cy="523220"/>
          </a:xfrm>
          <a:prstGeom prst="rect">
            <a:avLst/>
          </a:prstGeom>
          <a:solidFill>
            <a:schemeClr val="dk1"/>
          </a:solidFill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s-MX" sz="2800" b="1" i="0" u="none" strike="noStrike" cap="none">
                <a:solidFill>
                  <a:srgbClr val="FFFF00"/>
                </a:solidFill>
                <a:latin typeface="Calibri"/>
                <a:ea typeface="Calibri"/>
                <a:cs typeface="Calibri"/>
                <a:sym typeface="Calibri"/>
              </a:rPr>
              <a:t>ANTECEDENTES GENERALES FASE 1</a:t>
            </a:r>
            <a:endParaRPr sz="2800" b="1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79" name="Google Shape;179;p6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8653687" y="187714"/>
            <a:ext cx="3135088" cy="771525"/>
          </a:xfrm>
          <a:prstGeom prst="rect">
            <a:avLst/>
          </a:prstGeom>
          <a:noFill/>
          <a:ln>
            <a:noFill/>
          </a:ln>
        </p:spPr>
      </p:pic>
      <p:sp>
        <p:nvSpPr>
          <p:cNvPr id="180" name="Google Shape;180;p6"/>
          <p:cNvSpPr txBox="1"/>
          <p:nvPr/>
        </p:nvSpPr>
        <p:spPr>
          <a:xfrm>
            <a:off x="403226" y="5212062"/>
            <a:ext cx="11385549" cy="1015663"/>
          </a:xfrm>
          <a:prstGeom prst="rect">
            <a:avLst/>
          </a:prstGeom>
          <a:solidFill>
            <a:schemeClr val="dk1"/>
          </a:solidFill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s-MX" sz="2000" b="1" i="0" u="none" strike="noStrike" cap="none">
                <a:solidFill>
                  <a:srgbClr val="FFFF00"/>
                </a:solidFill>
                <a:latin typeface="Calibri"/>
                <a:ea typeface="Calibri"/>
                <a:cs typeface="Calibri"/>
                <a:sym typeface="Calibri"/>
              </a:rPr>
              <a:t>ENCARGO CON PRESENTACIÓN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s-MX" sz="2000" b="1" i="0" u="none" strike="noStrike" cap="none">
                <a:solidFill>
                  <a:srgbClr val="FFFF00"/>
                </a:solidFill>
                <a:latin typeface="Calibri"/>
                <a:ea typeface="Calibri"/>
                <a:cs typeface="Calibri"/>
                <a:sym typeface="Calibri"/>
              </a:rPr>
              <a:t>SEMANA 4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s-MX" sz="2000" b="1" i="0" u="none" strike="noStrike" cap="none">
                <a:solidFill>
                  <a:srgbClr val="FFFF00"/>
                </a:solidFill>
                <a:latin typeface="Calibri"/>
                <a:ea typeface="Calibri"/>
                <a:cs typeface="Calibri"/>
                <a:sym typeface="Calibri"/>
              </a:rPr>
              <a:t>20%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ransition spd="slow">
    <p:wip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5" name="Google Shape;185;p7" descr="Diario, Escribir, Blanco, Paginas, Notas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0291763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86" name="Google Shape;186;p7"/>
          <p:cNvSpPr/>
          <p:nvPr/>
        </p:nvSpPr>
        <p:spPr>
          <a:xfrm>
            <a:off x="0" y="-54430"/>
            <a:ext cx="12192000" cy="6899223"/>
          </a:xfrm>
          <a:prstGeom prst="rect">
            <a:avLst/>
          </a:prstGeom>
          <a:gradFill>
            <a:gsLst>
              <a:gs pos="0">
                <a:schemeClr val="lt2"/>
              </a:gs>
              <a:gs pos="42000">
                <a:schemeClr val="lt2"/>
              </a:gs>
              <a:gs pos="100000">
                <a:srgbClr val="E7E6E6">
                  <a:alpha val="784"/>
                </a:srgbClr>
              </a:gs>
            </a:gsLst>
            <a:lin ang="10800000" scaled="0"/>
          </a:gradFill>
          <a:ln w="12700" cap="flat" cmpd="sng">
            <a:solidFill>
              <a:srgbClr val="1C3052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7" name="Google Shape;187;p7"/>
          <p:cNvSpPr txBox="1"/>
          <p:nvPr/>
        </p:nvSpPr>
        <p:spPr>
          <a:xfrm>
            <a:off x="0" y="770911"/>
            <a:ext cx="6389914" cy="523220"/>
          </a:xfrm>
          <a:prstGeom prst="rect">
            <a:avLst/>
          </a:prstGeom>
          <a:solidFill>
            <a:schemeClr val="dk1"/>
          </a:solidFill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s-MX" sz="2800" b="1" i="0" u="none" strike="noStrike" cap="none">
                <a:solidFill>
                  <a:srgbClr val="FFFF00"/>
                </a:solidFill>
                <a:latin typeface="Calibri"/>
                <a:ea typeface="Calibri"/>
                <a:cs typeface="Calibri"/>
                <a:sym typeface="Calibri"/>
              </a:rPr>
              <a:t>FASE 2: Desarrollo proyecto APT – 50%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88" name="Google Shape;188;p7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8653687" y="187714"/>
            <a:ext cx="3135088" cy="771525"/>
          </a:xfrm>
          <a:prstGeom prst="rect">
            <a:avLst/>
          </a:prstGeom>
          <a:noFill/>
          <a:ln>
            <a:noFill/>
          </a:ln>
        </p:spPr>
      </p:pic>
      <p:sp>
        <p:nvSpPr>
          <p:cNvPr id="189" name="Google Shape;189;p7"/>
          <p:cNvSpPr txBox="1"/>
          <p:nvPr/>
        </p:nvSpPr>
        <p:spPr>
          <a:xfrm>
            <a:off x="403226" y="1645938"/>
            <a:ext cx="11385549" cy="1015663"/>
          </a:xfrm>
          <a:prstGeom prst="rect">
            <a:avLst/>
          </a:prstGeom>
          <a:solidFill>
            <a:schemeClr val="dk1"/>
          </a:solidFill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s-MX" sz="20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Desarrollar y monitorear el proyecto, realizando las actividades definidas en la metodología y plan de trabajo. Se extiende desde la semana cinco hasta la semana quince, período en el que los estudiantes ponen en marcha las acciones definidas para desarrollar su proyecto.</a:t>
            </a:r>
            <a:endParaRPr sz="2000" b="1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90" name="Google Shape;190;p7"/>
          <p:cNvGrpSpPr/>
          <p:nvPr/>
        </p:nvGrpSpPr>
        <p:grpSpPr>
          <a:xfrm>
            <a:off x="1163666" y="3331008"/>
            <a:ext cx="10452495" cy="2768176"/>
            <a:chOff x="0" y="28311"/>
            <a:chExt cx="10452495" cy="2768176"/>
          </a:xfrm>
        </p:grpSpPr>
        <p:sp>
          <p:nvSpPr>
            <p:cNvPr id="191" name="Google Shape;191;p7"/>
            <p:cNvSpPr/>
            <p:nvPr/>
          </p:nvSpPr>
          <p:spPr>
            <a:xfrm>
              <a:off x="0" y="249711"/>
              <a:ext cx="10452495" cy="1252125"/>
            </a:xfrm>
            <a:prstGeom prst="rect">
              <a:avLst/>
            </a:prstGeom>
            <a:solidFill>
              <a:schemeClr val="lt1">
                <a:alpha val="88627"/>
              </a:schemeClr>
            </a:solidFill>
            <a:ln w="12700" cap="flat" cmpd="sng">
              <a:solidFill>
                <a:srgbClr val="4372C3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2" name="Google Shape;192;p7"/>
            <p:cNvSpPr txBox="1"/>
            <p:nvPr/>
          </p:nvSpPr>
          <p:spPr>
            <a:xfrm>
              <a:off x="0" y="249711"/>
              <a:ext cx="10452495" cy="125212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811225" tIns="312400" rIns="811225" bIns="135125" anchor="t" anchorCtr="0">
              <a:noAutofit/>
            </a:bodyPr>
            <a:lstStyle/>
            <a:p>
              <a:pPr marL="171450" marR="0" lvl="1" indent="-171450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900"/>
                <a:buFont typeface="Calibri"/>
                <a:buChar char="•"/>
              </a:pPr>
              <a:r>
                <a:rPr lang="es-MX" sz="19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Señalar el estado de avance de cada una de las actividades de su plan de trabajo y los factores que han facilitado y/o dificultado el desarrollo de su plan. Además, deben mencionar los ajustes que han realizado al plan</a:t>
              </a:r>
              <a:endParaRPr sz="1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3" name="Google Shape;193;p7"/>
            <p:cNvSpPr/>
            <p:nvPr/>
          </p:nvSpPr>
          <p:spPr>
            <a:xfrm>
              <a:off x="522624" y="28311"/>
              <a:ext cx="7316746" cy="442800"/>
            </a:xfrm>
            <a:prstGeom prst="roundRect">
              <a:avLst>
                <a:gd name="adj" fmla="val 16667"/>
              </a:avLst>
            </a:prstGeom>
            <a:solidFill>
              <a:schemeClr val="dk1"/>
            </a:solidFill>
            <a:ln w="12700" cap="flat" cmpd="sng">
              <a:solidFill>
                <a:schemeClr val="lt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4" name="Google Shape;194;p7"/>
            <p:cNvSpPr txBox="1"/>
            <p:nvPr/>
          </p:nvSpPr>
          <p:spPr>
            <a:xfrm>
              <a:off x="544240" y="49927"/>
              <a:ext cx="7273514" cy="39956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276550" tIns="0" rIns="276550" bIns="0" anchor="ctr" anchorCtr="0">
              <a:noAutofit/>
            </a:bodyPr>
            <a:lstStyle/>
            <a:p>
              <a:pPr marL="0" marR="0" lvl="0" indent="0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00"/>
                </a:buClr>
                <a:buSzPts val="1900"/>
                <a:buFont typeface="Calibri"/>
                <a:buNone/>
              </a:pPr>
              <a:r>
                <a:rPr lang="es-MX" sz="1900" b="1" i="0" u="none" strike="noStrike" cap="none">
                  <a:solidFill>
                    <a:srgbClr val="FFFF00"/>
                  </a:solidFill>
                  <a:latin typeface="Calibri"/>
                  <a:ea typeface="Calibri"/>
                  <a:cs typeface="Calibri"/>
                  <a:sym typeface="Calibri"/>
                </a:rPr>
                <a:t>Informe de avance – 20% - semana 10</a:t>
              </a:r>
              <a:endParaRPr sz="1900" b="1" i="0" u="none" strike="noStrike" cap="none">
                <a:solidFill>
                  <a:srgbClr val="FFFF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5" name="Google Shape;195;p7"/>
            <p:cNvSpPr/>
            <p:nvPr/>
          </p:nvSpPr>
          <p:spPr>
            <a:xfrm>
              <a:off x="0" y="1804237"/>
              <a:ext cx="10452495" cy="992250"/>
            </a:xfrm>
            <a:prstGeom prst="rect">
              <a:avLst/>
            </a:prstGeom>
            <a:solidFill>
              <a:schemeClr val="lt1">
                <a:alpha val="88627"/>
              </a:schemeClr>
            </a:solidFill>
            <a:ln w="12700" cap="flat" cmpd="sng">
              <a:solidFill>
                <a:srgbClr val="4372C3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6" name="Google Shape;196;p7"/>
            <p:cNvSpPr txBox="1"/>
            <p:nvPr/>
          </p:nvSpPr>
          <p:spPr>
            <a:xfrm>
              <a:off x="0" y="1804237"/>
              <a:ext cx="10452495" cy="99225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811225" tIns="312400" rIns="811225" bIns="135125" anchor="t" anchorCtr="0">
              <a:noAutofit/>
            </a:bodyPr>
            <a:lstStyle/>
            <a:p>
              <a:pPr marL="171450" marR="0" lvl="1" indent="-171450" algn="just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900"/>
                <a:buFont typeface="Calibri"/>
                <a:buChar char="•"/>
              </a:pPr>
              <a:r>
                <a:rPr lang="es-MX" sz="19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En función de las oportunidades de mejora detectadas en la etapa anterior, el estudiante deberá incorporar los ajustes requeridos.</a:t>
              </a:r>
              <a:endParaRPr sz="1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7" name="Google Shape;197;p7"/>
            <p:cNvSpPr/>
            <p:nvPr/>
          </p:nvSpPr>
          <p:spPr>
            <a:xfrm>
              <a:off x="522624" y="1582837"/>
              <a:ext cx="7316746" cy="442800"/>
            </a:xfrm>
            <a:prstGeom prst="roundRect">
              <a:avLst>
                <a:gd name="adj" fmla="val 16667"/>
              </a:avLst>
            </a:prstGeom>
            <a:solidFill>
              <a:schemeClr val="dk1"/>
            </a:solidFill>
            <a:ln w="12700" cap="flat" cmpd="sng">
              <a:solidFill>
                <a:schemeClr val="lt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8" name="Google Shape;198;p7"/>
            <p:cNvSpPr txBox="1"/>
            <p:nvPr/>
          </p:nvSpPr>
          <p:spPr>
            <a:xfrm>
              <a:off x="544240" y="1604453"/>
              <a:ext cx="7273514" cy="39956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276550" tIns="0" rIns="276550" bIns="0" anchor="ctr" anchorCtr="0">
              <a:noAutofit/>
            </a:bodyPr>
            <a:lstStyle/>
            <a:p>
              <a:pPr marL="0" marR="0" lvl="0" indent="0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00"/>
                </a:buClr>
                <a:buSzPts val="1900"/>
                <a:buFont typeface="Calibri"/>
                <a:buNone/>
              </a:pPr>
              <a:r>
                <a:rPr lang="es-MX" sz="1900" b="1" i="0" u="none" strike="noStrike" cap="none">
                  <a:solidFill>
                    <a:srgbClr val="FFFF00"/>
                  </a:solidFill>
                  <a:latin typeface="Calibri"/>
                  <a:ea typeface="Calibri"/>
                  <a:cs typeface="Calibri"/>
                  <a:sym typeface="Calibri"/>
                </a:rPr>
                <a:t>Informe final – 30% - semana 15</a:t>
              </a:r>
              <a:endParaRPr sz="1900" b="1" i="0" u="none" strike="noStrike" cap="none">
                <a:solidFill>
                  <a:srgbClr val="FFFF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  <p:transition spd="slow">
    <p:wip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3" name="Google Shape;203;p8" descr="Diario, Escribir, Blanco, Paginas, Notas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0291763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04" name="Google Shape;204;p8"/>
          <p:cNvSpPr/>
          <p:nvPr/>
        </p:nvSpPr>
        <p:spPr>
          <a:xfrm>
            <a:off x="0" y="-54430"/>
            <a:ext cx="12192000" cy="6899223"/>
          </a:xfrm>
          <a:prstGeom prst="rect">
            <a:avLst/>
          </a:prstGeom>
          <a:gradFill>
            <a:gsLst>
              <a:gs pos="0">
                <a:schemeClr val="lt2"/>
              </a:gs>
              <a:gs pos="42000">
                <a:schemeClr val="lt2"/>
              </a:gs>
              <a:gs pos="100000">
                <a:srgbClr val="E7E6E6">
                  <a:alpha val="784"/>
                </a:srgbClr>
              </a:gs>
            </a:gsLst>
            <a:lin ang="10800000" scaled="0"/>
          </a:gradFill>
          <a:ln w="12700" cap="flat" cmpd="sng">
            <a:solidFill>
              <a:srgbClr val="1C3052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5" name="Google Shape;205;p8"/>
          <p:cNvSpPr txBox="1"/>
          <p:nvPr/>
        </p:nvSpPr>
        <p:spPr>
          <a:xfrm>
            <a:off x="0" y="770911"/>
            <a:ext cx="6389914" cy="523220"/>
          </a:xfrm>
          <a:prstGeom prst="rect">
            <a:avLst/>
          </a:prstGeom>
          <a:solidFill>
            <a:schemeClr val="dk1"/>
          </a:solidFill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s-MX" sz="2800" b="1" i="0" u="none" strike="noStrike" cap="none">
                <a:solidFill>
                  <a:srgbClr val="FFFF00"/>
                </a:solidFill>
                <a:latin typeface="Calibri"/>
                <a:ea typeface="Calibri"/>
                <a:cs typeface="Calibri"/>
                <a:sym typeface="Calibri"/>
              </a:rPr>
              <a:t>FASE 3: Presentación proyecto APT – 30%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06" name="Google Shape;206;p8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8653687" y="187714"/>
            <a:ext cx="3135088" cy="771525"/>
          </a:xfrm>
          <a:prstGeom prst="rect">
            <a:avLst/>
          </a:prstGeom>
          <a:noFill/>
          <a:ln>
            <a:noFill/>
          </a:ln>
        </p:spPr>
      </p:pic>
      <p:sp>
        <p:nvSpPr>
          <p:cNvPr id="207" name="Google Shape;207;p8"/>
          <p:cNvSpPr txBox="1"/>
          <p:nvPr/>
        </p:nvSpPr>
        <p:spPr>
          <a:xfrm>
            <a:off x="403226" y="1645938"/>
            <a:ext cx="11385549" cy="1015663"/>
          </a:xfrm>
          <a:prstGeom prst="rect">
            <a:avLst/>
          </a:prstGeom>
          <a:solidFill>
            <a:schemeClr val="dk1"/>
          </a:solidFill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s-MX" sz="20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Presentar su Proyecto APT e incorporar ajustes, a partir de la última retroalimentación que realizó el docente del informe final. La presentación se realiza ante una comisión que está integrada por el o los docentes de la asignatura y la Dirección de Carrera.</a:t>
            </a:r>
            <a:endParaRPr sz="2000" b="1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208" name="Google Shape;208;p8"/>
          <p:cNvGrpSpPr/>
          <p:nvPr/>
        </p:nvGrpSpPr>
        <p:grpSpPr>
          <a:xfrm>
            <a:off x="1077359" y="2950272"/>
            <a:ext cx="10625108" cy="3595050"/>
            <a:chOff x="0" y="28531"/>
            <a:chExt cx="10625108" cy="3595050"/>
          </a:xfrm>
        </p:grpSpPr>
        <p:sp>
          <p:nvSpPr>
            <p:cNvPr id="209" name="Google Shape;209;p8"/>
            <p:cNvSpPr/>
            <p:nvPr/>
          </p:nvSpPr>
          <p:spPr>
            <a:xfrm>
              <a:off x="0" y="249931"/>
              <a:ext cx="10625108" cy="1559250"/>
            </a:xfrm>
            <a:prstGeom prst="rect">
              <a:avLst/>
            </a:prstGeom>
            <a:solidFill>
              <a:schemeClr val="lt1">
                <a:alpha val="88627"/>
              </a:schemeClr>
            </a:solidFill>
            <a:ln w="12700" cap="flat" cmpd="sng">
              <a:solidFill>
                <a:srgbClr val="4372C3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0" name="Google Shape;210;p8"/>
            <p:cNvSpPr txBox="1"/>
            <p:nvPr/>
          </p:nvSpPr>
          <p:spPr>
            <a:xfrm>
              <a:off x="0" y="249931"/>
              <a:ext cx="10625108" cy="155925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824625" tIns="312400" rIns="824625" bIns="135125" anchor="t" anchorCtr="0">
              <a:noAutofit/>
            </a:bodyPr>
            <a:lstStyle/>
            <a:p>
              <a:pPr marL="171450" marR="0" lvl="1" indent="-171450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900"/>
                <a:buFont typeface="Calibri"/>
                <a:buChar char="•"/>
              </a:pPr>
              <a:r>
                <a:rPr lang="es-MX" sz="19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La presentación debe durar aproximadamente 20 minutos, incluyendo las preguntas que realice la comisión. </a:t>
              </a:r>
              <a:endParaRPr sz="1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marL="171450" marR="0" lvl="1" indent="-171450" algn="l" rtl="0">
                <a:lnSpc>
                  <a:spcPct val="90000"/>
                </a:lnSpc>
                <a:spcBef>
                  <a:spcPts val="285"/>
                </a:spcBef>
                <a:spcAft>
                  <a:spcPts val="0"/>
                </a:spcAft>
                <a:buClr>
                  <a:schemeClr val="dk1"/>
                </a:buClr>
                <a:buSzPts val="1900"/>
                <a:buFont typeface="Calibri"/>
                <a:buChar char="•"/>
              </a:pPr>
              <a:r>
                <a:rPr lang="es-MX" sz="19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En el caso de los proyectos grupales, la presentación debe distribuirse equitativamente por cada miembro del grupo.</a:t>
              </a:r>
              <a:endParaRPr sz="1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1" name="Google Shape;211;p8"/>
            <p:cNvSpPr/>
            <p:nvPr/>
          </p:nvSpPr>
          <p:spPr>
            <a:xfrm>
              <a:off x="531255" y="28531"/>
              <a:ext cx="7437576" cy="442800"/>
            </a:xfrm>
            <a:prstGeom prst="roundRect">
              <a:avLst>
                <a:gd name="adj" fmla="val 16667"/>
              </a:avLst>
            </a:prstGeom>
            <a:solidFill>
              <a:schemeClr val="dk1"/>
            </a:solidFill>
            <a:ln w="12700" cap="flat" cmpd="sng">
              <a:solidFill>
                <a:schemeClr val="lt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2" name="Google Shape;212;p8"/>
            <p:cNvSpPr txBox="1"/>
            <p:nvPr/>
          </p:nvSpPr>
          <p:spPr>
            <a:xfrm>
              <a:off x="552871" y="50147"/>
              <a:ext cx="7394344" cy="39956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281100" tIns="0" rIns="281100" bIns="0" anchor="ctr" anchorCtr="0">
              <a:noAutofit/>
            </a:bodyPr>
            <a:lstStyle/>
            <a:p>
              <a:pPr marL="0" marR="0" lvl="0" indent="0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00"/>
                </a:buClr>
                <a:buSzPts val="1900"/>
                <a:buFont typeface="Calibri"/>
                <a:buNone/>
              </a:pPr>
              <a:r>
                <a:rPr lang="es-MX" sz="1900" b="1" i="0" u="none" strike="noStrike" cap="none">
                  <a:solidFill>
                    <a:srgbClr val="FFFF00"/>
                  </a:solidFill>
                  <a:latin typeface="Calibri"/>
                  <a:ea typeface="Calibri"/>
                  <a:cs typeface="Calibri"/>
                  <a:sym typeface="Calibri"/>
                </a:rPr>
                <a:t>Presentación del proyecto – 30% - Semanas 16 a 18 </a:t>
              </a:r>
              <a:endParaRPr sz="1900" b="1" i="0" u="none" strike="noStrike" cap="none">
                <a:solidFill>
                  <a:srgbClr val="FFFF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3" name="Google Shape;213;p8"/>
            <p:cNvSpPr/>
            <p:nvPr/>
          </p:nvSpPr>
          <p:spPr>
            <a:xfrm>
              <a:off x="0" y="2111581"/>
              <a:ext cx="10625108" cy="1512000"/>
            </a:xfrm>
            <a:prstGeom prst="rect">
              <a:avLst/>
            </a:prstGeom>
            <a:solidFill>
              <a:schemeClr val="lt1">
                <a:alpha val="88627"/>
              </a:schemeClr>
            </a:solidFill>
            <a:ln w="12700" cap="flat" cmpd="sng">
              <a:solidFill>
                <a:srgbClr val="4372C3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4" name="Google Shape;214;p8"/>
            <p:cNvSpPr txBox="1"/>
            <p:nvPr/>
          </p:nvSpPr>
          <p:spPr>
            <a:xfrm>
              <a:off x="0" y="2111581"/>
              <a:ext cx="10625108" cy="1512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824625" tIns="312400" rIns="824625" bIns="135125" anchor="t" anchorCtr="0">
              <a:noAutofit/>
            </a:bodyPr>
            <a:lstStyle/>
            <a:p>
              <a:pPr marL="171450" marR="0" lvl="1" indent="-171450" algn="just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900"/>
                <a:buFont typeface="Calibri"/>
                <a:buChar char="•"/>
              </a:pPr>
              <a:r>
                <a:rPr lang="es-MX" sz="19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La comisión debe estar integrada por, al menos tres personas, el o los docentes que dicten la asignatura y algún representante de la Dirección de Carrera o Escuela. En caso de invitar a la comisión a otros docentes, se debe intencionar que sea un experto del área de desempeño asociada al Proyecto APT que se presenta.</a:t>
              </a:r>
              <a:endParaRPr sz="1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5" name="Google Shape;215;p8"/>
            <p:cNvSpPr/>
            <p:nvPr/>
          </p:nvSpPr>
          <p:spPr>
            <a:xfrm>
              <a:off x="531255" y="1890181"/>
              <a:ext cx="7437576" cy="442800"/>
            </a:xfrm>
            <a:prstGeom prst="roundRect">
              <a:avLst>
                <a:gd name="adj" fmla="val 16667"/>
              </a:avLst>
            </a:prstGeom>
            <a:solidFill>
              <a:schemeClr val="dk1"/>
            </a:solidFill>
            <a:ln w="12700" cap="flat" cmpd="sng">
              <a:solidFill>
                <a:schemeClr val="lt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6" name="Google Shape;216;p8"/>
            <p:cNvSpPr txBox="1"/>
            <p:nvPr/>
          </p:nvSpPr>
          <p:spPr>
            <a:xfrm>
              <a:off x="552871" y="1911797"/>
              <a:ext cx="7394344" cy="39956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281100" tIns="0" rIns="281100" bIns="0" anchor="ctr" anchorCtr="0">
              <a:noAutofit/>
            </a:bodyPr>
            <a:lstStyle/>
            <a:p>
              <a:pPr marL="0" marR="0" lvl="0" indent="0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00"/>
                </a:buClr>
                <a:buSzPts val="1900"/>
                <a:buFont typeface="Calibri"/>
                <a:buNone/>
              </a:pPr>
              <a:r>
                <a:rPr lang="es-MX" sz="1900" b="1" i="0" u="none" strike="noStrike" cap="none">
                  <a:solidFill>
                    <a:srgbClr val="FFFF00"/>
                  </a:solidFill>
                  <a:latin typeface="Calibri"/>
                  <a:ea typeface="Calibri"/>
                  <a:cs typeface="Calibri"/>
                  <a:sym typeface="Calibri"/>
                </a:rPr>
                <a:t>Comisión</a:t>
              </a:r>
              <a:endParaRPr sz="1900" b="1" i="0" u="none" strike="noStrike" cap="none">
                <a:solidFill>
                  <a:srgbClr val="FFFF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  <p:transition spd="slow">
    <p:wip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1" name="Google Shape;221;p9" descr="Estudiante, Mecanografía, Teclado, Texto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0291763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22" name="Google Shape;222;p9"/>
          <p:cNvSpPr/>
          <p:nvPr/>
        </p:nvSpPr>
        <p:spPr>
          <a:xfrm>
            <a:off x="-1" y="0"/>
            <a:ext cx="12192000" cy="6899223"/>
          </a:xfrm>
          <a:prstGeom prst="rect">
            <a:avLst/>
          </a:prstGeom>
          <a:gradFill>
            <a:gsLst>
              <a:gs pos="0">
                <a:schemeClr val="lt2"/>
              </a:gs>
              <a:gs pos="42000">
                <a:schemeClr val="lt2"/>
              </a:gs>
              <a:gs pos="100000">
                <a:srgbClr val="E7E6E6">
                  <a:alpha val="784"/>
                </a:srgbClr>
              </a:gs>
            </a:gsLst>
            <a:lin ang="10800000" scaled="0"/>
          </a:gradFill>
          <a:ln w="12700" cap="flat" cmpd="sng">
            <a:solidFill>
              <a:srgbClr val="1C3052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3" name="Google Shape;223;p9"/>
          <p:cNvSpPr txBox="1"/>
          <p:nvPr/>
        </p:nvSpPr>
        <p:spPr>
          <a:xfrm>
            <a:off x="0" y="494136"/>
            <a:ext cx="6879771" cy="523220"/>
          </a:xfrm>
          <a:prstGeom prst="rect">
            <a:avLst/>
          </a:prstGeom>
          <a:solidFill>
            <a:schemeClr val="dk1"/>
          </a:solidFill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s-MX" sz="2800" b="1" i="0" u="none" strike="noStrike" cap="none">
                <a:solidFill>
                  <a:srgbClr val="FFFF00"/>
                </a:solidFill>
                <a:latin typeface="Calibri"/>
                <a:ea typeface="Calibri"/>
                <a:cs typeface="Calibri"/>
                <a:sym typeface="Calibri"/>
              </a:rPr>
              <a:t>Aspectos relacionados con el idioma inglés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24" name="Google Shape;224;p9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8653687" y="187714"/>
            <a:ext cx="3135088" cy="771525"/>
          </a:xfrm>
          <a:prstGeom prst="rect">
            <a:avLst/>
          </a:prstGeom>
          <a:noFill/>
          <a:ln>
            <a:noFill/>
          </a:ln>
        </p:spPr>
      </p:pic>
      <p:sp>
        <p:nvSpPr>
          <p:cNvPr id="225" name="Google Shape;225;p9"/>
          <p:cNvSpPr txBox="1"/>
          <p:nvPr/>
        </p:nvSpPr>
        <p:spPr>
          <a:xfrm>
            <a:off x="1165227" y="1229587"/>
            <a:ext cx="9644288" cy="3785652"/>
          </a:xfrm>
          <a:prstGeom prst="rect">
            <a:avLst/>
          </a:prstGeom>
          <a:solidFill>
            <a:schemeClr val="dk1"/>
          </a:solidFill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s-MX" sz="2000" b="1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FASE 1 =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s-MX" sz="2000" b="1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	- Grupal = Resumen del proyecto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s-MX" sz="2000" b="1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	- Individual = Conclusiones y reflexión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endParaRPr sz="2000" b="1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s-MX" sz="2000" b="1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FASE 2 =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s-MX" sz="2000" b="1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	- Grupal = Resumen del proyecto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s-MX" sz="2000" b="1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	- Individual = Conclusiones y reflexión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endParaRPr sz="2000" b="1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s-MX" sz="2000" b="1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FASE 3 =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s-MX" sz="2000" b="1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	- Grupal = Resumen del proyecto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s-MX" sz="2000" b="1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	- Individual = Presentación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s-MX" sz="2000" b="1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6" name="Google Shape;226;p9"/>
          <p:cNvSpPr txBox="1"/>
          <p:nvPr/>
        </p:nvSpPr>
        <p:spPr>
          <a:xfrm>
            <a:off x="1165227" y="5227469"/>
            <a:ext cx="9644400" cy="400200"/>
          </a:xfrm>
          <a:prstGeom prst="rect">
            <a:avLst/>
          </a:prstGeom>
          <a:solidFill>
            <a:schemeClr val="dk1"/>
          </a:solidFill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s-MX" sz="2000" b="1" i="0" u="none" strike="noStrike" cap="none">
                <a:solidFill>
                  <a:srgbClr val="FFFF00"/>
                </a:solidFill>
                <a:latin typeface="Calibri"/>
                <a:ea typeface="Calibri"/>
                <a:cs typeface="Calibri"/>
                <a:sym typeface="Calibri"/>
              </a:rPr>
              <a:t>El proceso es formativo para este semestre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ransition spd="slow">
    <p:wip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1" name="Google Shape;231;g2f36e8546a0_0_0" descr="Estudiante, Mecanografía, Teclado, Texto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0291763" cy="6858001"/>
          </a:xfrm>
          <a:prstGeom prst="rect">
            <a:avLst/>
          </a:prstGeom>
          <a:noFill/>
          <a:ln>
            <a:noFill/>
          </a:ln>
        </p:spPr>
      </p:pic>
      <p:sp>
        <p:nvSpPr>
          <p:cNvPr id="232" name="Google Shape;232;g2f36e8546a0_0_0"/>
          <p:cNvSpPr/>
          <p:nvPr/>
        </p:nvSpPr>
        <p:spPr>
          <a:xfrm>
            <a:off x="-1" y="0"/>
            <a:ext cx="12192000" cy="6899100"/>
          </a:xfrm>
          <a:prstGeom prst="rect">
            <a:avLst/>
          </a:prstGeom>
          <a:gradFill>
            <a:gsLst>
              <a:gs pos="0">
                <a:schemeClr val="lt2"/>
              </a:gs>
              <a:gs pos="42000">
                <a:schemeClr val="lt2"/>
              </a:gs>
              <a:gs pos="100000">
                <a:srgbClr val="E7E6E6">
                  <a:alpha val="784"/>
                </a:srgbClr>
              </a:gs>
            </a:gsLst>
            <a:lin ang="10800025" scaled="0"/>
          </a:gradFill>
          <a:ln w="12700" cap="flat" cmpd="sng">
            <a:solidFill>
              <a:srgbClr val="1C3052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3" name="Google Shape;233;g2f36e8546a0_0_0"/>
          <p:cNvSpPr txBox="1"/>
          <p:nvPr/>
        </p:nvSpPr>
        <p:spPr>
          <a:xfrm>
            <a:off x="0" y="494136"/>
            <a:ext cx="6879900" cy="523200"/>
          </a:xfrm>
          <a:prstGeom prst="rect">
            <a:avLst/>
          </a:prstGeom>
          <a:solidFill>
            <a:schemeClr val="dk1"/>
          </a:solidFill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s-MX" sz="2800" b="1" i="0" u="none" strike="noStrike" cap="none">
                <a:solidFill>
                  <a:srgbClr val="FFFF00"/>
                </a:solidFill>
                <a:latin typeface="Calibri"/>
                <a:ea typeface="Calibri"/>
                <a:cs typeface="Calibri"/>
                <a:sym typeface="Calibri"/>
              </a:rPr>
              <a:t>Fechas de Entregas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34" name="Google Shape;234;g2f36e8546a0_0_0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8653687" y="187714"/>
            <a:ext cx="3135088" cy="771525"/>
          </a:xfrm>
          <a:prstGeom prst="rect">
            <a:avLst/>
          </a:prstGeom>
          <a:noFill/>
          <a:ln>
            <a:noFill/>
          </a:ln>
        </p:spPr>
      </p:pic>
      <p:sp>
        <p:nvSpPr>
          <p:cNvPr id="235" name="Google Shape;235;g2f36e8546a0_0_0"/>
          <p:cNvSpPr txBox="1"/>
          <p:nvPr/>
        </p:nvSpPr>
        <p:spPr>
          <a:xfrm>
            <a:off x="1165227" y="1588237"/>
            <a:ext cx="9644400" cy="2770500"/>
          </a:xfrm>
          <a:prstGeom prst="rect">
            <a:avLst/>
          </a:prstGeom>
          <a:solidFill>
            <a:schemeClr val="dk1"/>
          </a:solidFill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s-MX" sz="2000" b="1" i="0" u="none" strike="noStrike" cap="none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FASE 1</a:t>
            </a:r>
            <a:endParaRPr sz="2000" b="1" i="0" u="none" strike="noStrike" cap="none" dirty="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marR="0" lvl="0" indent="-3556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Calibri"/>
              <a:buChar char="-"/>
            </a:pPr>
            <a:r>
              <a:rPr lang="es-MX" sz="2000" b="1" i="0" u="none" strike="noStrike" cap="none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 04 de septiembre  (Entrega y presentación semana siguiente)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s-MX" sz="2000" b="1" i="0" u="none" strike="noStrike" cap="none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FASE 2 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MX" sz="2000" b="1" i="0" u="none" strike="noStrike" cap="none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	- Entrega parcial : 16 de octubre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MX" sz="2000" b="1" i="0" u="none" strike="noStrike" cap="none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	- Entrega Final  :    </a:t>
            </a:r>
            <a:r>
              <a:rPr lang="es-MX" sz="2000" b="1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20</a:t>
            </a:r>
            <a:r>
              <a:rPr lang="es-MX" sz="2000" b="1" i="0" u="none" strike="noStrike" cap="none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 de noviembre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endParaRPr sz="2000" b="1" i="0" u="none" strike="noStrike" cap="none" dirty="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s-MX" sz="2000" b="1" i="0" u="none" strike="noStrike" cap="none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FASE 3 = 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-3556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Calibri"/>
              <a:buChar char="-"/>
            </a:pPr>
            <a:r>
              <a:rPr lang="es-MX" sz="2000" b="1" i="0" u="none" strike="noStrike" cap="none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Presentación Final : </a:t>
            </a:r>
            <a:r>
              <a:rPr lang="es-MX" sz="2000" b="1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04</a:t>
            </a:r>
            <a:r>
              <a:rPr lang="es-MX" sz="2000" b="1" i="0" u="none" strike="noStrike" cap="none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 de diciembre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0" name="Google Shape;240;g2e4329f7a36_0_1" descr="Estudiante, Mecanografía, Teclado, Texto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0291763" cy="6858001"/>
          </a:xfrm>
          <a:prstGeom prst="rect">
            <a:avLst/>
          </a:prstGeom>
          <a:noFill/>
          <a:ln>
            <a:noFill/>
          </a:ln>
        </p:spPr>
      </p:pic>
      <p:sp>
        <p:nvSpPr>
          <p:cNvPr id="241" name="Google Shape;241;g2e4329f7a36_0_1"/>
          <p:cNvSpPr/>
          <p:nvPr/>
        </p:nvSpPr>
        <p:spPr>
          <a:xfrm>
            <a:off x="-1" y="0"/>
            <a:ext cx="12192000" cy="6899100"/>
          </a:xfrm>
          <a:prstGeom prst="rect">
            <a:avLst/>
          </a:prstGeom>
          <a:gradFill>
            <a:gsLst>
              <a:gs pos="0">
                <a:schemeClr val="lt2"/>
              </a:gs>
              <a:gs pos="42000">
                <a:schemeClr val="lt2"/>
              </a:gs>
              <a:gs pos="100000">
                <a:srgbClr val="E7E6E6">
                  <a:alpha val="784"/>
                </a:srgbClr>
              </a:gs>
            </a:gsLst>
            <a:lin ang="10800025" scaled="0"/>
          </a:gradFill>
          <a:ln w="12700" cap="flat" cmpd="sng">
            <a:solidFill>
              <a:srgbClr val="1C3052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2" name="Google Shape;242;g2e4329f7a36_0_1"/>
          <p:cNvSpPr txBox="1"/>
          <p:nvPr/>
        </p:nvSpPr>
        <p:spPr>
          <a:xfrm>
            <a:off x="0" y="494136"/>
            <a:ext cx="6879900" cy="523200"/>
          </a:xfrm>
          <a:prstGeom prst="rect">
            <a:avLst/>
          </a:prstGeom>
          <a:solidFill>
            <a:schemeClr val="dk1"/>
          </a:solidFill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s-MX" sz="2800" b="1" i="0" u="none" strike="noStrike" cap="none">
                <a:solidFill>
                  <a:srgbClr val="FFFF00"/>
                </a:solidFill>
                <a:latin typeface="Calibri"/>
                <a:ea typeface="Calibri"/>
                <a:cs typeface="Calibri"/>
                <a:sym typeface="Calibri"/>
              </a:rPr>
              <a:t>Feriados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43" name="Google Shape;243;g2e4329f7a36_0_1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8653687" y="187714"/>
            <a:ext cx="3135088" cy="771525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244" name="Google Shape;244;g2e4329f7a36_0_1"/>
          <p:cNvGraphicFramePr/>
          <p:nvPr>
            <p:extLst>
              <p:ext uri="{D42A27DB-BD31-4B8C-83A1-F6EECF244321}">
                <p14:modId xmlns:p14="http://schemas.microsoft.com/office/powerpoint/2010/main" val="1359198718"/>
              </p:ext>
            </p:extLst>
          </p:nvPr>
        </p:nvGraphicFramePr>
        <p:xfrm>
          <a:off x="1814513" y="1783200"/>
          <a:ext cx="9206400" cy="1373144"/>
        </p:xfrm>
        <a:graphic>
          <a:graphicData uri="http://schemas.openxmlformats.org/drawingml/2006/table">
            <a:tbl>
              <a:tblPr>
                <a:noFill/>
                <a:tableStyleId>{AA7A352C-8DEE-4CEB-8D94-93BEE813DD62}</a:tableStyleId>
              </a:tblPr>
              <a:tblGrid>
                <a:gridCol w="20583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835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7645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s-MX" sz="2400" b="1" u="none" strike="noStrike" cap="none">
                          <a:solidFill>
                            <a:srgbClr val="FFFFFF"/>
                          </a:solidFill>
                        </a:rPr>
                        <a:t>MES</a:t>
                      </a:r>
                      <a:endParaRPr sz="2400" b="1" u="none" strike="noStrike" cap="none">
                        <a:solidFill>
                          <a:srgbClr val="FFFFFF"/>
                        </a:solidFill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A253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s-MX" sz="2400" b="1" u="none" strike="noStrike" cap="none">
                          <a:solidFill>
                            <a:srgbClr val="FFFFFF"/>
                          </a:solidFill>
                        </a:rPr>
                        <a:t>FECHA</a:t>
                      </a:r>
                      <a:endParaRPr sz="2400" b="1" u="none" strike="noStrike" cap="none">
                        <a:solidFill>
                          <a:srgbClr val="FFFFFF"/>
                        </a:solidFill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A253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s-MX" sz="2400" b="1" u="none" strike="noStrike" cap="none">
                          <a:solidFill>
                            <a:srgbClr val="FFFFFF"/>
                          </a:solidFill>
                        </a:rPr>
                        <a:t>Festividad</a:t>
                      </a:r>
                      <a:endParaRPr sz="2400" b="1" u="none" strike="noStrike" cap="none">
                        <a:solidFill>
                          <a:srgbClr val="FFFFFF"/>
                        </a:solidFill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A253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0962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s-MX" sz="2400" u="none" strike="noStrike" cap="none" dirty="0"/>
                        <a:t>Septiembre</a:t>
                      </a:r>
                      <a:endParaRPr sz="2400" u="none" strike="noStrike" cap="none" dirty="0"/>
                    </a:p>
                  </a:txBody>
                  <a:tcPr marL="91450" marR="91450" marT="45725" marB="457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s-MX" sz="2400" u="none" strike="noStrike" cap="none" dirty="0"/>
                        <a:t>Viernes 18</a:t>
                      </a:r>
                    </a:p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s-MX" sz="2400" u="none" strike="noStrike" cap="none" dirty="0"/>
                        <a:t>Sábado 19</a:t>
                      </a:r>
                      <a:endParaRPr sz="2400" u="none" strike="noStrike" cap="none" dirty="0"/>
                    </a:p>
                  </a:txBody>
                  <a:tcPr marL="91450" marR="91450" marT="45725" marB="457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1270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s-MX" sz="2400" u="none" strike="noStrike" cap="none" dirty="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Fiestas Patrias</a:t>
                      </a:r>
                      <a:endParaRPr sz="2400" u="none" strike="noStrike" cap="none" dirty="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9" name="Google Shape;249;p11" descr="Pregunta, Preguntas"/>
          <p:cNvPicPr preferRelativeResize="0"/>
          <p:nvPr/>
        </p:nvPicPr>
        <p:blipFill rotWithShape="1">
          <a:blip r:embed="rId3">
            <a:alphaModFix/>
          </a:blip>
          <a:srcRect l="8303" r="-443"/>
          <a:stretch/>
        </p:blipFill>
        <p:spPr>
          <a:xfrm>
            <a:off x="-1" y="0"/>
            <a:ext cx="11234057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50" name="Google Shape;250;p11"/>
          <p:cNvSpPr/>
          <p:nvPr/>
        </p:nvSpPr>
        <p:spPr>
          <a:xfrm>
            <a:off x="-1" y="-32658"/>
            <a:ext cx="12192000" cy="6899223"/>
          </a:xfrm>
          <a:prstGeom prst="rect">
            <a:avLst/>
          </a:prstGeom>
          <a:gradFill>
            <a:gsLst>
              <a:gs pos="0">
                <a:schemeClr val="lt2"/>
              </a:gs>
              <a:gs pos="42000">
                <a:schemeClr val="lt2"/>
              </a:gs>
              <a:gs pos="100000">
                <a:srgbClr val="E7E6E6">
                  <a:alpha val="784"/>
                </a:srgbClr>
              </a:gs>
            </a:gsLst>
            <a:lin ang="10800000" scaled="0"/>
          </a:gradFill>
          <a:ln w="12700" cap="flat" cmpd="sng">
            <a:solidFill>
              <a:srgbClr val="1C3052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1" name="Google Shape;251;p11"/>
          <p:cNvSpPr txBox="1"/>
          <p:nvPr/>
        </p:nvSpPr>
        <p:spPr>
          <a:xfrm>
            <a:off x="7053943" y="3057372"/>
            <a:ext cx="5138056" cy="523220"/>
          </a:xfrm>
          <a:prstGeom prst="rect">
            <a:avLst/>
          </a:prstGeom>
          <a:solidFill>
            <a:schemeClr val="dk1"/>
          </a:solidFill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s-MX" sz="2800" b="1" i="0" u="none" strike="noStrike" cap="none">
                <a:solidFill>
                  <a:srgbClr val="FFFF00"/>
                </a:solidFill>
                <a:latin typeface="Calibri"/>
                <a:ea typeface="Calibri"/>
                <a:cs typeface="Calibri"/>
                <a:sym typeface="Calibri"/>
              </a:rPr>
              <a:t>¿ PREGUNTAS ?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52" name="Google Shape;252;p11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8653687" y="187714"/>
            <a:ext cx="3135088" cy="7715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slow">
    <p:wip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7" name="Google Shape;257;p12" descr="Gente, Muchachas, Mujeres, Estudiantes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0291763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58" name="Google Shape;258;p12"/>
          <p:cNvSpPr/>
          <p:nvPr/>
        </p:nvSpPr>
        <p:spPr>
          <a:xfrm>
            <a:off x="0" y="0"/>
            <a:ext cx="12192000" cy="6899223"/>
          </a:xfrm>
          <a:prstGeom prst="rect">
            <a:avLst/>
          </a:prstGeom>
          <a:gradFill>
            <a:gsLst>
              <a:gs pos="0">
                <a:schemeClr val="lt2"/>
              </a:gs>
              <a:gs pos="31000">
                <a:schemeClr val="lt2"/>
              </a:gs>
              <a:gs pos="100000">
                <a:srgbClr val="E7E6E6">
                  <a:alpha val="32549"/>
                </a:srgbClr>
              </a:gs>
            </a:gsLst>
            <a:lin ang="10800000" scaled="0"/>
          </a:gradFill>
          <a:ln w="12700" cap="flat" cmpd="sng">
            <a:solidFill>
              <a:srgbClr val="1C3052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9" name="Google Shape;259;p12"/>
          <p:cNvSpPr txBox="1"/>
          <p:nvPr/>
        </p:nvSpPr>
        <p:spPr>
          <a:xfrm>
            <a:off x="-2" y="3188001"/>
            <a:ext cx="5508171" cy="523220"/>
          </a:xfrm>
          <a:prstGeom prst="rect">
            <a:avLst/>
          </a:prstGeom>
          <a:solidFill>
            <a:schemeClr val="dk1"/>
          </a:solidFill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s-MX" sz="2800" b="1" i="0" u="none" strike="noStrike" cap="none" dirty="0">
                <a:solidFill>
                  <a:srgbClr val="FFFF00"/>
                </a:solidFill>
                <a:latin typeface="Calibri"/>
                <a:ea typeface="Calibri"/>
                <a:cs typeface="Calibri"/>
                <a:sym typeface="Calibri"/>
              </a:rPr>
              <a:t>CAPSTONE 2026-1</a:t>
            </a:r>
            <a:endParaRPr sz="2800" b="1" i="0" u="none" strike="noStrike" cap="none" dirty="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60" name="Google Shape;260;p12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8653687" y="187714"/>
            <a:ext cx="3135088" cy="7715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slow">
    <p:wipe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5" name="Google Shape;265;p10" descr="Computadora Portátil, Manos Humanas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-20612"/>
            <a:ext cx="10291763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66" name="Google Shape;266;p10"/>
          <p:cNvSpPr/>
          <p:nvPr/>
        </p:nvSpPr>
        <p:spPr>
          <a:xfrm>
            <a:off x="0" y="0"/>
            <a:ext cx="12192000" cy="6899223"/>
          </a:xfrm>
          <a:prstGeom prst="rect">
            <a:avLst/>
          </a:prstGeom>
          <a:gradFill>
            <a:gsLst>
              <a:gs pos="0">
                <a:schemeClr val="lt2"/>
              </a:gs>
              <a:gs pos="42000">
                <a:schemeClr val="lt2"/>
              </a:gs>
              <a:gs pos="100000">
                <a:srgbClr val="E7E6E6">
                  <a:alpha val="784"/>
                </a:srgbClr>
              </a:gs>
            </a:gsLst>
            <a:lin ang="10800000" scaled="0"/>
          </a:gradFill>
          <a:ln w="12700" cap="flat" cmpd="sng">
            <a:solidFill>
              <a:srgbClr val="1C3052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7" name="Google Shape;267;p10"/>
          <p:cNvSpPr txBox="1"/>
          <p:nvPr/>
        </p:nvSpPr>
        <p:spPr>
          <a:xfrm>
            <a:off x="6760028" y="2447772"/>
            <a:ext cx="5138056" cy="2246769"/>
          </a:xfrm>
          <a:prstGeom prst="rect">
            <a:avLst/>
          </a:prstGeom>
          <a:solidFill>
            <a:schemeClr val="dk1"/>
          </a:solidFill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s-MX" sz="2800" b="1" i="0" u="none" strike="noStrike" cap="none">
                <a:solidFill>
                  <a:srgbClr val="FFFF00"/>
                </a:solidFill>
                <a:latin typeface="Calibri"/>
                <a:ea typeface="Calibri"/>
                <a:cs typeface="Calibri"/>
                <a:sym typeface="Calibri"/>
              </a:rPr>
              <a:t>Coordinación nacional: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endParaRPr sz="2800" b="1" i="0" u="none" strike="noStrike" cap="none">
              <a:solidFill>
                <a:srgbClr val="FFFF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s-MX" sz="2800" b="1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Gerardo Galán Cruz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s-MX" sz="2800" b="1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Sede Concepción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s-MX" sz="2800" b="1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ge.galan@profesor.duoc.cl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68" name="Google Shape;268;p10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8653687" y="187714"/>
            <a:ext cx="3135088" cy="7715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slow">
    <p:wipe/>
  </p:transition>
</p:sld>
</file>

<file path=ppt/theme/theme1.xml><?xml version="1.0" encoding="utf-8"?>
<a:theme xmlns:a="http://schemas.openxmlformats.org/drawingml/2006/main" name="Tema de Offic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</TotalTime>
  <Words>926</Words>
  <Application>Microsoft Macintosh PowerPoint</Application>
  <PresentationFormat>Panorámica</PresentationFormat>
  <Paragraphs>96</Paragraphs>
  <Slides>15</Slides>
  <Notes>15</Notes>
  <HiddenSlides>0</HiddenSlides>
  <MMClips>0</MMClips>
  <ScaleCrop>false</ScaleCrop>
  <HeadingPairs>
    <vt:vector size="6" baseType="variant">
      <vt:variant>
        <vt:lpstr>Fuentes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15</vt:i4>
      </vt:variant>
    </vt:vector>
  </HeadingPairs>
  <TitlesOfParts>
    <vt:vector size="18" baseType="lpstr">
      <vt:lpstr>Arial</vt:lpstr>
      <vt:lpstr>Calibri</vt:lpstr>
      <vt:lpstr>Tema de Office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Gerardo enrique</dc:creator>
  <cp:lastModifiedBy>Arturo Guerra Castro</cp:lastModifiedBy>
  <cp:revision>3</cp:revision>
  <dcterms:created xsi:type="dcterms:W3CDTF">2023-07-21T16:02:49Z</dcterms:created>
  <dcterms:modified xsi:type="dcterms:W3CDTF">2026-08-12T23:04:18Z</dcterms:modified>
</cp:coreProperties>
</file>